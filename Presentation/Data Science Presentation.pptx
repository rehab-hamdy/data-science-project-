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Agrandir Bold" charset="1" panose="00000800000000000000"/>
      <p:regular r:id="rId27"/>
    </p:embeddedFont>
    <p:embeddedFont>
      <p:font typeface="Poppins Bold" charset="1" panose="00000800000000000000"/>
      <p:regular r:id="rId28"/>
    </p:embeddedFont>
    <p:embeddedFont>
      <p:font typeface="Poppins" charset="1" panose="00000500000000000000"/>
      <p:regular r:id="rId29"/>
    </p:embeddedFont>
    <p:embeddedFont>
      <p:font typeface="Aileron Bold" charset="1" panose="00000800000000000000"/>
      <p:regular r:id="rId30"/>
    </p:embeddedFont>
    <p:embeddedFont>
      <p:font typeface="Aileron" charset="1" panose="00000500000000000000"/>
      <p:regular r:id="rId31"/>
    </p:embeddedFont>
    <p:embeddedFont>
      <p:font typeface="Poppins Semi-Bold" charset="1" panose="000007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11" Target="../media/image27.png" Type="http://schemas.openxmlformats.org/officeDocument/2006/relationships/image"/><Relationship Id="rId12" Target="../media/image28.png" Type="http://schemas.openxmlformats.org/officeDocument/2006/relationships/image"/><Relationship Id="rId13" Target="../media/image29.pn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3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11" Target="../media/image5.png" Type="http://schemas.openxmlformats.org/officeDocument/2006/relationships/image"/><Relationship Id="rId12" Target="../media/image6.svg" Type="http://schemas.openxmlformats.org/officeDocument/2006/relationships/image"/><Relationship Id="rId13" Target="../media/image34.png" Type="http://schemas.openxmlformats.org/officeDocument/2006/relationships/image"/><Relationship Id="rId14" Target="../media/image35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33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3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3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svg" Type="http://schemas.openxmlformats.org/officeDocument/2006/relationships/image"/><Relationship Id="rId11" Target="../media/image34.png" Type="http://schemas.openxmlformats.org/officeDocument/2006/relationships/image"/><Relationship Id="rId12" Target="../media/image35.svg" Type="http://schemas.openxmlformats.org/officeDocument/2006/relationships/image"/><Relationship Id="rId13" Target="../media/image3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8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12" Target="../media/image4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12" Target="../media/image4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sv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Relationship Id="rId6" Target="../media/image46.png" Type="http://schemas.openxmlformats.org/officeDocument/2006/relationships/image"/><Relationship Id="rId7" Target="../embeddings/oleObject1.bin" Type="http://schemas.openxmlformats.org/officeDocument/2006/relationships/oleObjec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Relationship Id="rId6" Target="../media/image49.png" Type="http://schemas.openxmlformats.org/officeDocument/2006/relationships/image"/><Relationship Id="rId7" Target="../media/image50.png" Type="http://schemas.openxmlformats.org/officeDocument/2006/relationships/image"/><Relationship Id="rId8" Target="../media/image51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5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Relationship Id="rId6" Target="../media/image52.png" Type="http://schemas.openxmlformats.org/officeDocument/2006/relationships/image"/><Relationship Id="rId7" Target="../media/image50.png" Type="http://schemas.openxmlformats.org/officeDocument/2006/relationships/image"/><Relationship Id="rId8" Target="../media/image51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Relationship Id="rId6" Target="../media/image54.png" Type="http://schemas.openxmlformats.org/officeDocument/2006/relationships/image"/><Relationship Id="rId7" Target="../media/image50.png" Type="http://schemas.openxmlformats.org/officeDocument/2006/relationships/image"/><Relationship Id="rId8" Target="../media/image51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34.png" Type="http://schemas.openxmlformats.org/officeDocument/2006/relationships/image"/><Relationship Id="rId13" Target="../media/image35.svg" Type="http://schemas.openxmlformats.org/officeDocument/2006/relationships/image"/><Relationship Id="rId14" Target="../media/image5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60.svg" Type="http://schemas.openxmlformats.org/officeDocument/2006/relationships/image"/><Relationship Id="rId4" Target="../media/image61.png" Type="http://schemas.openxmlformats.org/officeDocument/2006/relationships/image"/><Relationship Id="rId5" Target="../media/image62.svg" Type="http://schemas.openxmlformats.org/officeDocument/2006/relationships/image"/><Relationship Id="rId6" Target="../media/image63.png" Type="http://schemas.openxmlformats.org/officeDocument/2006/relationships/image"/><Relationship Id="rId7" Target="../media/image64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5.png" Type="http://schemas.openxmlformats.org/officeDocument/2006/relationships/image"/><Relationship Id="rId5" Target="../media/image6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67.png" Type="http://schemas.openxmlformats.org/officeDocument/2006/relationships/image"/><Relationship Id="rId9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273330">
            <a:off x="-1005336" y="-461956"/>
            <a:ext cx="8300686" cy="8300686"/>
          </a:xfrm>
          <a:custGeom>
            <a:avLst/>
            <a:gdLst/>
            <a:ahLst/>
            <a:cxnLst/>
            <a:rect r="r" b="b" t="t" l="l"/>
            <a:pathLst>
              <a:path h="8300686" w="8300686">
                <a:moveTo>
                  <a:pt x="0" y="0"/>
                </a:moveTo>
                <a:lnTo>
                  <a:pt x="8300686" y="0"/>
                </a:lnTo>
                <a:lnTo>
                  <a:pt x="8300686" y="8300686"/>
                </a:lnTo>
                <a:lnTo>
                  <a:pt x="0" y="8300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273330">
            <a:off x="10916344" y="46284"/>
            <a:ext cx="8300686" cy="8300686"/>
          </a:xfrm>
          <a:custGeom>
            <a:avLst/>
            <a:gdLst/>
            <a:ahLst/>
            <a:cxnLst/>
            <a:rect r="r" b="b" t="t" l="l"/>
            <a:pathLst>
              <a:path h="8300686" w="8300686">
                <a:moveTo>
                  <a:pt x="0" y="0"/>
                </a:moveTo>
                <a:lnTo>
                  <a:pt x="8300686" y="0"/>
                </a:lnTo>
                <a:lnTo>
                  <a:pt x="8300686" y="8300686"/>
                </a:lnTo>
                <a:lnTo>
                  <a:pt x="0" y="8300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404750">
            <a:off x="12804501" y="452051"/>
            <a:ext cx="7637114" cy="5053457"/>
          </a:xfrm>
          <a:custGeom>
            <a:avLst/>
            <a:gdLst/>
            <a:ahLst/>
            <a:cxnLst/>
            <a:rect r="r" b="b" t="t" l="l"/>
            <a:pathLst>
              <a:path h="5053457" w="7637114">
                <a:moveTo>
                  <a:pt x="0" y="0"/>
                </a:moveTo>
                <a:lnTo>
                  <a:pt x="7637113" y="0"/>
                </a:lnTo>
                <a:lnTo>
                  <a:pt x="7637113" y="5053457"/>
                </a:lnTo>
                <a:lnTo>
                  <a:pt x="0" y="50534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5400000">
            <a:off x="15516222" y="5723058"/>
            <a:ext cx="1220220" cy="5477567"/>
            <a:chOff x="0" y="0"/>
            <a:chExt cx="660400" cy="29645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2964536"/>
            </a:xfrm>
            <a:custGeom>
              <a:avLst/>
              <a:gdLst/>
              <a:ahLst/>
              <a:cxnLst/>
              <a:rect r="r" b="b" t="t" l="l"/>
              <a:pathLst>
                <a:path h="2964536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76298"/>
                  </a:cubicBezTo>
                  <a:lnTo>
                    <a:pt x="660400" y="2964536"/>
                  </a:lnTo>
                  <a:lnTo>
                    <a:pt x="0" y="2964536"/>
                  </a:lnTo>
                  <a:lnTo>
                    <a:pt x="0" y="378219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334BA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60325"/>
              <a:ext cx="660400" cy="2904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851696" y="-1783737"/>
            <a:ext cx="6003024" cy="4114800"/>
          </a:xfrm>
          <a:custGeom>
            <a:avLst/>
            <a:gdLst/>
            <a:ahLst/>
            <a:cxnLst/>
            <a:rect r="r" b="b" t="t" l="l"/>
            <a:pathLst>
              <a:path h="4114800" w="6003024">
                <a:moveTo>
                  <a:pt x="0" y="0"/>
                </a:moveTo>
                <a:lnTo>
                  <a:pt x="6003024" y="0"/>
                </a:lnTo>
                <a:lnTo>
                  <a:pt x="60030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2858016" y="8820019"/>
            <a:ext cx="6003024" cy="4114800"/>
          </a:xfrm>
          <a:custGeom>
            <a:avLst/>
            <a:gdLst/>
            <a:ahLst/>
            <a:cxnLst/>
            <a:rect r="r" b="b" t="t" l="l"/>
            <a:pathLst>
              <a:path h="4114800" w="6003024">
                <a:moveTo>
                  <a:pt x="0" y="0"/>
                </a:moveTo>
                <a:lnTo>
                  <a:pt x="6003023" y="0"/>
                </a:lnTo>
                <a:lnTo>
                  <a:pt x="60030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463851">
            <a:off x="-2441117" y="3676337"/>
            <a:ext cx="6750322" cy="4466669"/>
          </a:xfrm>
          <a:custGeom>
            <a:avLst/>
            <a:gdLst/>
            <a:ahLst/>
            <a:cxnLst/>
            <a:rect r="r" b="b" t="t" l="l"/>
            <a:pathLst>
              <a:path h="4466669" w="6750322">
                <a:moveTo>
                  <a:pt x="6750322" y="0"/>
                </a:moveTo>
                <a:lnTo>
                  <a:pt x="0" y="0"/>
                </a:lnTo>
                <a:lnTo>
                  <a:pt x="0" y="4466670"/>
                </a:lnTo>
                <a:lnTo>
                  <a:pt x="6750322" y="4466670"/>
                </a:lnTo>
                <a:lnTo>
                  <a:pt x="675032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6786004" y="8102846"/>
            <a:ext cx="717992" cy="717992"/>
          </a:xfrm>
          <a:custGeom>
            <a:avLst/>
            <a:gdLst/>
            <a:ahLst/>
            <a:cxnLst/>
            <a:rect r="r" b="b" t="t" l="l"/>
            <a:pathLst>
              <a:path h="717992" w="717992">
                <a:moveTo>
                  <a:pt x="0" y="0"/>
                </a:moveTo>
                <a:lnTo>
                  <a:pt x="717992" y="0"/>
                </a:lnTo>
                <a:lnTo>
                  <a:pt x="717992" y="717992"/>
                </a:lnTo>
                <a:lnTo>
                  <a:pt x="0" y="7179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2700000">
            <a:off x="15571880" y="-159998"/>
            <a:ext cx="1602571" cy="1595902"/>
            <a:chOff x="0" y="0"/>
            <a:chExt cx="422076" cy="4203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2076" cy="420320"/>
            </a:xfrm>
            <a:custGeom>
              <a:avLst/>
              <a:gdLst/>
              <a:ahLst/>
              <a:cxnLst/>
              <a:rect r="r" b="b" t="t" l="l"/>
              <a:pathLst>
                <a:path h="420320" w="422076">
                  <a:moveTo>
                    <a:pt x="0" y="0"/>
                  </a:moveTo>
                  <a:lnTo>
                    <a:pt x="422076" y="0"/>
                  </a:lnTo>
                  <a:lnTo>
                    <a:pt x="422076" y="420320"/>
                  </a:lnTo>
                  <a:lnTo>
                    <a:pt x="0" y="420320"/>
                  </a:lnTo>
                  <a:close/>
                </a:path>
              </a:pathLst>
            </a:custGeom>
            <a:solidFill>
              <a:srgbClr val="334BA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422076" cy="4869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754206" y="828461"/>
            <a:ext cx="548988" cy="2602961"/>
          </a:xfrm>
          <a:custGeom>
            <a:avLst/>
            <a:gdLst/>
            <a:ahLst/>
            <a:cxnLst/>
            <a:rect r="r" b="b" t="t" l="l"/>
            <a:pathLst>
              <a:path h="2602961" w="548988">
                <a:moveTo>
                  <a:pt x="0" y="0"/>
                </a:moveTo>
                <a:lnTo>
                  <a:pt x="548988" y="0"/>
                </a:lnTo>
                <a:lnTo>
                  <a:pt x="548988" y="2602961"/>
                </a:lnTo>
                <a:lnTo>
                  <a:pt x="0" y="26029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79048" y="273663"/>
            <a:ext cx="548988" cy="2602961"/>
          </a:xfrm>
          <a:custGeom>
            <a:avLst/>
            <a:gdLst/>
            <a:ahLst/>
            <a:cxnLst/>
            <a:rect r="r" b="b" t="t" l="l"/>
            <a:pathLst>
              <a:path h="2602961" w="548988">
                <a:moveTo>
                  <a:pt x="0" y="0"/>
                </a:moveTo>
                <a:lnTo>
                  <a:pt x="548988" y="0"/>
                </a:lnTo>
                <a:lnTo>
                  <a:pt x="548988" y="2602961"/>
                </a:lnTo>
                <a:lnTo>
                  <a:pt x="0" y="26029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28036" y="6403533"/>
            <a:ext cx="3808060" cy="4114800"/>
          </a:xfrm>
          <a:custGeom>
            <a:avLst/>
            <a:gdLst/>
            <a:ahLst/>
            <a:cxnLst/>
            <a:rect r="r" b="b" t="t" l="l"/>
            <a:pathLst>
              <a:path h="4114800" w="3808060">
                <a:moveTo>
                  <a:pt x="0" y="0"/>
                </a:moveTo>
                <a:lnTo>
                  <a:pt x="3808061" y="0"/>
                </a:lnTo>
                <a:lnTo>
                  <a:pt x="380806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2700000">
            <a:off x="911018" y="9761865"/>
            <a:ext cx="1434036" cy="1512936"/>
            <a:chOff x="0" y="0"/>
            <a:chExt cx="377689" cy="39846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7689" cy="398469"/>
            </a:xfrm>
            <a:custGeom>
              <a:avLst/>
              <a:gdLst/>
              <a:ahLst/>
              <a:cxnLst/>
              <a:rect r="r" b="b" t="t" l="l"/>
              <a:pathLst>
                <a:path h="398469" w="377689">
                  <a:moveTo>
                    <a:pt x="0" y="0"/>
                  </a:moveTo>
                  <a:lnTo>
                    <a:pt x="377689" y="0"/>
                  </a:lnTo>
                  <a:lnTo>
                    <a:pt x="377689" y="398469"/>
                  </a:lnTo>
                  <a:lnTo>
                    <a:pt x="0" y="398469"/>
                  </a:lnTo>
                  <a:close/>
                </a:path>
              </a:pathLst>
            </a:custGeom>
            <a:solidFill>
              <a:srgbClr val="334BA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377689" cy="465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045394" y="3982218"/>
            <a:ext cx="12327771" cy="1341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6800" b="true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Superstore Sales Prediction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913439">
            <a:off x="10129424" y="7708043"/>
            <a:ext cx="9849240" cy="8488254"/>
          </a:xfrm>
          <a:custGeom>
            <a:avLst/>
            <a:gdLst/>
            <a:ahLst/>
            <a:cxnLst/>
            <a:rect r="r" b="b" t="t" l="l"/>
            <a:pathLst>
              <a:path h="8488254" w="9849240">
                <a:moveTo>
                  <a:pt x="0" y="0"/>
                </a:moveTo>
                <a:lnTo>
                  <a:pt x="9849239" y="0"/>
                </a:lnTo>
                <a:lnTo>
                  <a:pt x="9849239" y="8488254"/>
                </a:lnTo>
                <a:lnTo>
                  <a:pt x="0" y="8488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10558" y="658254"/>
            <a:ext cx="8913829" cy="1682596"/>
            <a:chOff x="0" y="0"/>
            <a:chExt cx="2347675" cy="4431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47675" cy="443153"/>
            </a:xfrm>
            <a:custGeom>
              <a:avLst/>
              <a:gdLst/>
              <a:ahLst/>
              <a:cxnLst/>
              <a:rect r="r" b="b" t="t" l="l"/>
              <a:pathLst>
                <a:path h="443153" w="2347675">
                  <a:moveTo>
                    <a:pt x="0" y="0"/>
                  </a:moveTo>
                  <a:lnTo>
                    <a:pt x="2347675" y="0"/>
                  </a:lnTo>
                  <a:lnTo>
                    <a:pt x="2347675" y="443153"/>
                  </a:lnTo>
                  <a:lnTo>
                    <a:pt x="0" y="443153"/>
                  </a:lnTo>
                  <a:close/>
                </a:path>
              </a:pathLst>
            </a:custGeom>
            <a:solidFill>
              <a:srgbClr val="334BA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2347675" cy="509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387073" y="9258300"/>
            <a:ext cx="1206410" cy="1218914"/>
            <a:chOff x="0" y="0"/>
            <a:chExt cx="317738" cy="3210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7738" cy="321031"/>
            </a:xfrm>
            <a:custGeom>
              <a:avLst/>
              <a:gdLst/>
              <a:ahLst/>
              <a:cxnLst/>
              <a:rect r="r" b="b" t="t" l="l"/>
              <a:pathLst>
                <a:path h="321031" w="317738">
                  <a:moveTo>
                    <a:pt x="0" y="0"/>
                  </a:moveTo>
                  <a:lnTo>
                    <a:pt x="317738" y="0"/>
                  </a:lnTo>
                  <a:lnTo>
                    <a:pt x="317738" y="321031"/>
                  </a:lnTo>
                  <a:lnTo>
                    <a:pt x="0" y="321031"/>
                  </a:lnTo>
                  <a:close/>
                </a:path>
              </a:pathLst>
            </a:custGeom>
            <a:solidFill>
              <a:srgbClr val="334BA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317738" cy="387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59300" y="-190214"/>
            <a:ext cx="1206410" cy="1218914"/>
            <a:chOff x="0" y="0"/>
            <a:chExt cx="317738" cy="3210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7738" cy="321031"/>
            </a:xfrm>
            <a:custGeom>
              <a:avLst/>
              <a:gdLst/>
              <a:ahLst/>
              <a:cxnLst/>
              <a:rect r="r" b="b" t="t" l="l"/>
              <a:pathLst>
                <a:path h="321031" w="317738">
                  <a:moveTo>
                    <a:pt x="0" y="0"/>
                  </a:moveTo>
                  <a:lnTo>
                    <a:pt x="317738" y="0"/>
                  </a:lnTo>
                  <a:lnTo>
                    <a:pt x="317738" y="321031"/>
                  </a:lnTo>
                  <a:lnTo>
                    <a:pt x="0" y="321031"/>
                  </a:lnTo>
                  <a:close/>
                </a:path>
              </a:pathLst>
            </a:custGeom>
            <a:solidFill>
              <a:srgbClr val="334BA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317738" cy="387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576400" y="971550"/>
            <a:ext cx="8547987" cy="108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Project Overview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76400" y="3283825"/>
            <a:ext cx="15359168" cy="214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21358A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th</a:t>
            </a:r>
            <a:r>
              <a:rPr lang="en-US" b="true" sz="3199">
                <a:solidFill>
                  <a:srgbClr val="21358A"/>
                </a:solidFill>
                <a:latin typeface="Poppins Bold"/>
                <a:ea typeface="Poppins Bold"/>
                <a:cs typeface="Poppins Bold"/>
                <a:sym typeface="Poppins Bold"/>
              </a:rPr>
              <a:t>e goal?</a:t>
            </a:r>
          </a:p>
          <a:p>
            <a:pPr algn="l" marL="1295394" indent="-431798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21358A"/>
                </a:solidFill>
                <a:latin typeface="Poppins"/>
                <a:ea typeface="Poppins"/>
                <a:cs typeface="Poppins"/>
                <a:sym typeface="Poppins"/>
              </a:rPr>
              <a:t>To build a robust predictive system that estimates Sales using historical order data from the Superstore dataset.</a:t>
            </a:r>
          </a:p>
          <a:p>
            <a:pPr algn="l">
              <a:lnSpc>
                <a:spcPts val="4199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-5917297">
            <a:off x="-2155649" y="-2934544"/>
            <a:ext cx="6368698" cy="5488660"/>
          </a:xfrm>
          <a:custGeom>
            <a:avLst/>
            <a:gdLst/>
            <a:ahLst/>
            <a:cxnLst/>
            <a:rect r="r" b="b" t="t" l="l"/>
            <a:pathLst>
              <a:path h="5488660" w="6368698">
                <a:moveTo>
                  <a:pt x="0" y="0"/>
                </a:moveTo>
                <a:lnTo>
                  <a:pt x="6368698" y="0"/>
                </a:lnTo>
                <a:lnTo>
                  <a:pt x="6368698" y="5488660"/>
                </a:lnTo>
                <a:lnTo>
                  <a:pt x="0" y="5488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01929" y="5419647"/>
            <a:ext cx="15557371" cy="3618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21358A"/>
                </a:solidFill>
                <a:latin typeface="Poppins Bold"/>
                <a:ea typeface="Poppins Bold"/>
                <a:cs typeface="Poppins Bold"/>
                <a:sym typeface="Poppins Bold"/>
              </a:rPr>
              <a:t>Why?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21358A"/>
                </a:solidFill>
                <a:latin typeface="Poppins"/>
                <a:ea typeface="Poppins"/>
                <a:cs typeface="Poppins"/>
                <a:sym typeface="Poppins"/>
              </a:rPr>
              <a:t>Sales forecasting h</a:t>
            </a:r>
            <a:r>
              <a:rPr lang="en-US" sz="3000">
                <a:solidFill>
                  <a:srgbClr val="21358A"/>
                </a:solidFill>
                <a:latin typeface="Poppins"/>
                <a:ea typeface="Poppins"/>
                <a:cs typeface="Poppins"/>
                <a:sym typeface="Poppins"/>
              </a:rPr>
              <a:t>elps</a:t>
            </a:r>
            <a:r>
              <a:rPr lang="en-US" sz="3000">
                <a:solidFill>
                  <a:srgbClr val="21358A"/>
                </a:solidFill>
                <a:latin typeface="Poppins"/>
                <a:ea typeface="Poppins"/>
                <a:cs typeface="Poppins"/>
                <a:sym typeface="Poppins"/>
              </a:rPr>
              <a:t> c</a:t>
            </a:r>
            <a:r>
              <a:rPr lang="en-US" sz="3000">
                <a:solidFill>
                  <a:srgbClr val="21358A"/>
                </a:solidFill>
                <a:latin typeface="Poppins"/>
                <a:ea typeface="Poppins"/>
                <a:cs typeface="Poppins"/>
                <a:sym typeface="Poppins"/>
              </a:rPr>
              <a:t>ompanies decide: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21358A"/>
                </a:solidFill>
                <a:latin typeface="Poppins"/>
                <a:ea typeface="Poppins"/>
                <a:cs typeface="Poppins"/>
                <a:sym typeface="Poppins"/>
              </a:rPr>
              <a:t>Inventory planning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21358A"/>
                </a:solidFill>
                <a:latin typeface="Poppins"/>
                <a:ea typeface="Poppins"/>
                <a:cs typeface="Poppins"/>
                <a:sym typeface="Poppins"/>
              </a:rPr>
              <a:t>Pricing strategies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21358A"/>
                </a:solidFill>
                <a:latin typeface="Poppins"/>
                <a:ea typeface="Poppins"/>
                <a:cs typeface="Poppins"/>
                <a:sym typeface="Poppins"/>
              </a:rPr>
              <a:t>Regional performance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21358A"/>
                </a:solidFill>
                <a:latin typeface="Poppins"/>
                <a:ea typeface="Poppins"/>
                <a:cs typeface="Poppins"/>
                <a:sym typeface="Poppins"/>
              </a:rPr>
              <a:t>Customer segmentation</a:t>
            </a:r>
          </a:p>
          <a:p>
            <a:pPr algn="l">
              <a:lnSpc>
                <a:spcPts val="2940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913439">
            <a:off x="10129424" y="7708043"/>
            <a:ext cx="9849240" cy="8488254"/>
          </a:xfrm>
          <a:custGeom>
            <a:avLst/>
            <a:gdLst/>
            <a:ahLst/>
            <a:cxnLst/>
            <a:rect r="r" b="b" t="t" l="l"/>
            <a:pathLst>
              <a:path h="8488254" w="9849240">
                <a:moveTo>
                  <a:pt x="0" y="0"/>
                </a:moveTo>
                <a:lnTo>
                  <a:pt x="9849239" y="0"/>
                </a:lnTo>
                <a:lnTo>
                  <a:pt x="9849239" y="8488254"/>
                </a:lnTo>
                <a:lnTo>
                  <a:pt x="0" y="8488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10558" y="658254"/>
            <a:ext cx="8913829" cy="1682596"/>
            <a:chOff x="0" y="0"/>
            <a:chExt cx="2347675" cy="4431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47675" cy="443153"/>
            </a:xfrm>
            <a:custGeom>
              <a:avLst/>
              <a:gdLst/>
              <a:ahLst/>
              <a:cxnLst/>
              <a:rect r="r" b="b" t="t" l="l"/>
              <a:pathLst>
                <a:path h="443153" w="2347675">
                  <a:moveTo>
                    <a:pt x="0" y="0"/>
                  </a:moveTo>
                  <a:lnTo>
                    <a:pt x="2347675" y="0"/>
                  </a:lnTo>
                  <a:lnTo>
                    <a:pt x="2347675" y="443153"/>
                  </a:lnTo>
                  <a:lnTo>
                    <a:pt x="0" y="443153"/>
                  </a:lnTo>
                  <a:close/>
                </a:path>
              </a:pathLst>
            </a:custGeom>
            <a:solidFill>
              <a:srgbClr val="334BA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2347675" cy="509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387073" y="9258300"/>
            <a:ext cx="1206410" cy="1218914"/>
            <a:chOff x="0" y="0"/>
            <a:chExt cx="317738" cy="3210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7738" cy="321031"/>
            </a:xfrm>
            <a:custGeom>
              <a:avLst/>
              <a:gdLst/>
              <a:ahLst/>
              <a:cxnLst/>
              <a:rect r="r" b="b" t="t" l="l"/>
              <a:pathLst>
                <a:path h="321031" w="317738">
                  <a:moveTo>
                    <a:pt x="0" y="0"/>
                  </a:moveTo>
                  <a:lnTo>
                    <a:pt x="317738" y="0"/>
                  </a:lnTo>
                  <a:lnTo>
                    <a:pt x="317738" y="321031"/>
                  </a:lnTo>
                  <a:lnTo>
                    <a:pt x="0" y="321031"/>
                  </a:lnTo>
                  <a:close/>
                </a:path>
              </a:pathLst>
            </a:custGeom>
            <a:solidFill>
              <a:srgbClr val="334BA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317738" cy="387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59300" y="-190214"/>
            <a:ext cx="1206410" cy="1218914"/>
            <a:chOff x="0" y="0"/>
            <a:chExt cx="317738" cy="3210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7738" cy="321031"/>
            </a:xfrm>
            <a:custGeom>
              <a:avLst/>
              <a:gdLst/>
              <a:ahLst/>
              <a:cxnLst/>
              <a:rect r="r" b="b" t="t" l="l"/>
              <a:pathLst>
                <a:path h="321031" w="317738">
                  <a:moveTo>
                    <a:pt x="0" y="0"/>
                  </a:moveTo>
                  <a:lnTo>
                    <a:pt x="317738" y="0"/>
                  </a:lnTo>
                  <a:lnTo>
                    <a:pt x="317738" y="321031"/>
                  </a:lnTo>
                  <a:lnTo>
                    <a:pt x="0" y="321031"/>
                  </a:lnTo>
                  <a:close/>
                </a:path>
              </a:pathLst>
            </a:custGeom>
            <a:solidFill>
              <a:srgbClr val="334BA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317738" cy="387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576400" y="971550"/>
            <a:ext cx="8547987" cy="108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Project Pipeline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5917297">
            <a:off x="-2155649" y="-2934544"/>
            <a:ext cx="6368698" cy="5488660"/>
          </a:xfrm>
          <a:custGeom>
            <a:avLst/>
            <a:gdLst/>
            <a:ahLst/>
            <a:cxnLst/>
            <a:rect r="r" b="b" t="t" l="l"/>
            <a:pathLst>
              <a:path h="5488660" w="6368698">
                <a:moveTo>
                  <a:pt x="0" y="0"/>
                </a:moveTo>
                <a:lnTo>
                  <a:pt x="6368698" y="0"/>
                </a:lnTo>
                <a:lnTo>
                  <a:pt x="6368698" y="5488660"/>
                </a:lnTo>
                <a:lnTo>
                  <a:pt x="0" y="5488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35068" y="5398572"/>
            <a:ext cx="1141332" cy="802005"/>
            <a:chOff x="0" y="0"/>
            <a:chExt cx="300598" cy="2112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0598" cy="211228"/>
            </a:xfrm>
            <a:custGeom>
              <a:avLst/>
              <a:gdLst/>
              <a:ahLst/>
              <a:cxnLst/>
              <a:rect r="r" b="b" t="t" l="l"/>
              <a:pathLst>
                <a:path h="211228" w="300598">
                  <a:moveTo>
                    <a:pt x="101748" y="0"/>
                  </a:moveTo>
                  <a:lnTo>
                    <a:pt x="198849" y="0"/>
                  </a:lnTo>
                  <a:cubicBezTo>
                    <a:pt x="255043" y="0"/>
                    <a:pt x="300598" y="45554"/>
                    <a:pt x="300598" y="101748"/>
                  </a:cubicBezTo>
                  <a:lnTo>
                    <a:pt x="300598" y="109479"/>
                  </a:lnTo>
                  <a:cubicBezTo>
                    <a:pt x="300598" y="165673"/>
                    <a:pt x="255043" y="211228"/>
                    <a:pt x="198849" y="211228"/>
                  </a:cubicBezTo>
                  <a:lnTo>
                    <a:pt x="101748" y="211228"/>
                  </a:lnTo>
                  <a:cubicBezTo>
                    <a:pt x="45554" y="211228"/>
                    <a:pt x="0" y="165673"/>
                    <a:pt x="0" y="109479"/>
                  </a:cubicBezTo>
                  <a:lnTo>
                    <a:pt x="0" y="101748"/>
                  </a:lnTo>
                  <a:cubicBezTo>
                    <a:pt x="0" y="45554"/>
                    <a:pt x="45554" y="0"/>
                    <a:pt x="101748" y="0"/>
                  </a:cubicBezTo>
                  <a:close/>
                </a:path>
              </a:pathLst>
            </a:custGeom>
            <a:solidFill>
              <a:srgbClr val="86EAE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300598" cy="23980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120"/>
                </a:lnSpc>
              </a:pPr>
              <a:r>
                <a:rPr lang="en-US" sz="2400" b="true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470726" y="5398572"/>
            <a:ext cx="983823" cy="802005"/>
            <a:chOff x="0" y="0"/>
            <a:chExt cx="259114" cy="2112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9114" cy="211228"/>
            </a:xfrm>
            <a:custGeom>
              <a:avLst/>
              <a:gdLst/>
              <a:ahLst/>
              <a:cxnLst/>
              <a:rect r="r" b="b" t="t" l="l"/>
              <a:pathLst>
                <a:path h="211228" w="259114">
                  <a:moveTo>
                    <a:pt x="105614" y="0"/>
                  </a:moveTo>
                  <a:lnTo>
                    <a:pt x="153500" y="0"/>
                  </a:lnTo>
                  <a:cubicBezTo>
                    <a:pt x="211829" y="0"/>
                    <a:pt x="259114" y="47285"/>
                    <a:pt x="259114" y="105614"/>
                  </a:cubicBezTo>
                  <a:lnTo>
                    <a:pt x="259114" y="105614"/>
                  </a:lnTo>
                  <a:cubicBezTo>
                    <a:pt x="259114" y="163943"/>
                    <a:pt x="211829" y="211228"/>
                    <a:pt x="153500" y="211228"/>
                  </a:cubicBezTo>
                  <a:lnTo>
                    <a:pt x="105614" y="211228"/>
                  </a:lnTo>
                  <a:cubicBezTo>
                    <a:pt x="47285" y="211228"/>
                    <a:pt x="0" y="163943"/>
                    <a:pt x="0" y="105614"/>
                  </a:cubicBezTo>
                  <a:lnTo>
                    <a:pt x="0" y="105614"/>
                  </a:lnTo>
                  <a:cubicBezTo>
                    <a:pt x="0" y="47285"/>
                    <a:pt x="47285" y="0"/>
                    <a:pt x="105614" y="0"/>
                  </a:cubicBezTo>
                  <a:close/>
                </a:path>
              </a:pathLst>
            </a:custGeom>
            <a:solidFill>
              <a:srgbClr val="3EDAD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259114" cy="23980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120"/>
                </a:lnSpc>
              </a:pPr>
              <a:r>
                <a:rPr lang="en-US" sz="2400" b="true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381863" y="5398572"/>
            <a:ext cx="889067" cy="802005"/>
            <a:chOff x="0" y="0"/>
            <a:chExt cx="234158" cy="2112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4158" cy="211228"/>
            </a:xfrm>
            <a:custGeom>
              <a:avLst/>
              <a:gdLst/>
              <a:ahLst/>
              <a:cxnLst/>
              <a:rect r="r" b="b" t="t" l="l"/>
              <a:pathLst>
                <a:path h="211228" w="234158">
                  <a:moveTo>
                    <a:pt x="105614" y="0"/>
                  </a:moveTo>
                  <a:lnTo>
                    <a:pt x="128544" y="0"/>
                  </a:lnTo>
                  <a:cubicBezTo>
                    <a:pt x="186873" y="0"/>
                    <a:pt x="234158" y="47285"/>
                    <a:pt x="234158" y="105614"/>
                  </a:cubicBezTo>
                  <a:lnTo>
                    <a:pt x="234158" y="105614"/>
                  </a:lnTo>
                  <a:cubicBezTo>
                    <a:pt x="234158" y="163943"/>
                    <a:pt x="186873" y="211228"/>
                    <a:pt x="128544" y="211228"/>
                  </a:cubicBezTo>
                  <a:lnTo>
                    <a:pt x="105614" y="211228"/>
                  </a:lnTo>
                  <a:cubicBezTo>
                    <a:pt x="47285" y="211228"/>
                    <a:pt x="0" y="163943"/>
                    <a:pt x="0" y="105614"/>
                  </a:cubicBezTo>
                  <a:lnTo>
                    <a:pt x="0" y="105614"/>
                  </a:lnTo>
                  <a:cubicBezTo>
                    <a:pt x="0" y="47285"/>
                    <a:pt x="47285" y="0"/>
                    <a:pt x="105614" y="0"/>
                  </a:cubicBezTo>
                  <a:close/>
                </a:path>
              </a:pathLst>
            </a:custGeom>
            <a:solidFill>
              <a:srgbClr val="37C9E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234158" cy="23980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120"/>
                </a:lnSpc>
              </a:pPr>
              <a:r>
                <a:rPr lang="en-US" sz="2400" b="true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571115" y="5412393"/>
            <a:ext cx="932227" cy="802005"/>
            <a:chOff x="0" y="0"/>
            <a:chExt cx="245525" cy="2112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5525" cy="211228"/>
            </a:xfrm>
            <a:custGeom>
              <a:avLst/>
              <a:gdLst/>
              <a:ahLst/>
              <a:cxnLst/>
              <a:rect r="r" b="b" t="t" l="l"/>
              <a:pathLst>
                <a:path h="211228" w="245525">
                  <a:moveTo>
                    <a:pt x="105614" y="0"/>
                  </a:moveTo>
                  <a:lnTo>
                    <a:pt x="139911" y="0"/>
                  </a:lnTo>
                  <a:cubicBezTo>
                    <a:pt x="198240" y="0"/>
                    <a:pt x="245525" y="47285"/>
                    <a:pt x="245525" y="105614"/>
                  </a:cubicBezTo>
                  <a:lnTo>
                    <a:pt x="245525" y="105614"/>
                  </a:lnTo>
                  <a:cubicBezTo>
                    <a:pt x="245525" y="163943"/>
                    <a:pt x="198240" y="211228"/>
                    <a:pt x="139911" y="211228"/>
                  </a:cubicBezTo>
                  <a:lnTo>
                    <a:pt x="105614" y="211228"/>
                  </a:lnTo>
                  <a:cubicBezTo>
                    <a:pt x="47285" y="211228"/>
                    <a:pt x="0" y="163943"/>
                    <a:pt x="0" y="105614"/>
                  </a:cubicBezTo>
                  <a:lnTo>
                    <a:pt x="0" y="105614"/>
                  </a:lnTo>
                  <a:cubicBezTo>
                    <a:pt x="0" y="47285"/>
                    <a:pt x="47285" y="0"/>
                    <a:pt x="105614" y="0"/>
                  </a:cubicBezTo>
                  <a:close/>
                </a:path>
              </a:pathLst>
            </a:custGeom>
            <a:solidFill>
              <a:srgbClr val="18AFD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245525" cy="23980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120"/>
                </a:lnSpc>
              </a:pPr>
              <a:r>
                <a:rPr lang="en-US" sz="2400" b="true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4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604892" y="5398572"/>
            <a:ext cx="1078215" cy="802005"/>
            <a:chOff x="0" y="0"/>
            <a:chExt cx="283974" cy="2112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83974" cy="211228"/>
            </a:xfrm>
            <a:custGeom>
              <a:avLst/>
              <a:gdLst/>
              <a:ahLst/>
              <a:cxnLst/>
              <a:rect r="r" b="b" t="t" l="l"/>
              <a:pathLst>
                <a:path h="211228" w="283974">
                  <a:moveTo>
                    <a:pt x="105614" y="0"/>
                  </a:moveTo>
                  <a:lnTo>
                    <a:pt x="178361" y="0"/>
                  </a:lnTo>
                  <a:cubicBezTo>
                    <a:pt x="206371" y="0"/>
                    <a:pt x="233234" y="11127"/>
                    <a:pt x="253041" y="30934"/>
                  </a:cubicBezTo>
                  <a:cubicBezTo>
                    <a:pt x="272847" y="50740"/>
                    <a:pt x="283974" y="77603"/>
                    <a:pt x="283974" y="105614"/>
                  </a:cubicBezTo>
                  <a:lnTo>
                    <a:pt x="283974" y="105614"/>
                  </a:lnTo>
                  <a:cubicBezTo>
                    <a:pt x="283974" y="163943"/>
                    <a:pt x="236690" y="211228"/>
                    <a:pt x="178361" y="211228"/>
                  </a:cubicBezTo>
                  <a:lnTo>
                    <a:pt x="105614" y="211228"/>
                  </a:lnTo>
                  <a:cubicBezTo>
                    <a:pt x="47285" y="211228"/>
                    <a:pt x="0" y="163943"/>
                    <a:pt x="0" y="105614"/>
                  </a:cubicBezTo>
                  <a:lnTo>
                    <a:pt x="0" y="105614"/>
                  </a:lnTo>
                  <a:cubicBezTo>
                    <a:pt x="0" y="47285"/>
                    <a:pt x="47285" y="0"/>
                    <a:pt x="105614" y="0"/>
                  </a:cubicBezTo>
                  <a:close/>
                </a:path>
              </a:pathLst>
            </a:custGeom>
            <a:solidFill>
              <a:srgbClr val="1C88C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283974" cy="23980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120"/>
                </a:lnSpc>
              </a:pPr>
              <a:r>
                <a:rPr lang="en-US" sz="2400" b="true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5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788008" y="5412393"/>
            <a:ext cx="1090701" cy="802005"/>
            <a:chOff x="0" y="0"/>
            <a:chExt cx="287263" cy="21122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87263" cy="211228"/>
            </a:xfrm>
            <a:custGeom>
              <a:avLst/>
              <a:gdLst/>
              <a:ahLst/>
              <a:cxnLst/>
              <a:rect r="r" b="b" t="t" l="l"/>
              <a:pathLst>
                <a:path h="211228" w="287263">
                  <a:moveTo>
                    <a:pt x="105614" y="0"/>
                  </a:moveTo>
                  <a:lnTo>
                    <a:pt x="181649" y="0"/>
                  </a:lnTo>
                  <a:cubicBezTo>
                    <a:pt x="239978" y="0"/>
                    <a:pt x="287263" y="47285"/>
                    <a:pt x="287263" y="105614"/>
                  </a:cubicBezTo>
                  <a:lnTo>
                    <a:pt x="287263" y="105614"/>
                  </a:lnTo>
                  <a:cubicBezTo>
                    <a:pt x="287263" y="163943"/>
                    <a:pt x="239978" y="211228"/>
                    <a:pt x="181649" y="211228"/>
                  </a:cubicBezTo>
                  <a:lnTo>
                    <a:pt x="105614" y="211228"/>
                  </a:lnTo>
                  <a:cubicBezTo>
                    <a:pt x="47285" y="211228"/>
                    <a:pt x="0" y="163943"/>
                    <a:pt x="0" y="105614"/>
                  </a:cubicBezTo>
                  <a:lnTo>
                    <a:pt x="0" y="105614"/>
                  </a:lnTo>
                  <a:cubicBezTo>
                    <a:pt x="0" y="47285"/>
                    <a:pt x="47285" y="0"/>
                    <a:pt x="105614" y="0"/>
                  </a:cubicBezTo>
                  <a:close/>
                </a:path>
              </a:pathLst>
            </a:custGeom>
            <a:solidFill>
              <a:srgbClr val="13538A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287263" cy="23980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120"/>
                </a:lnSpc>
              </a:pPr>
              <a:r>
                <a:rPr lang="en-US" sz="2400" b="true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6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-18231" y="7260808"/>
            <a:ext cx="2457578" cy="870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399" spc="35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Data Loading &amp; Cleaning</a:t>
            </a:r>
          </a:p>
        </p:txBody>
      </p:sp>
      <p:sp>
        <p:nvSpPr>
          <p:cNvPr name="AutoShape 33" id="33"/>
          <p:cNvSpPr/>
          <p:nvPr/>
        </p:nvSpPr>
        <p:spPr>
          <a:xfrm>
            <a:off x="1576400" y="5799575"/>
            <a:ext cx="894327" cy="0"/>
          </a:xfrm>
          <a:prstGeom prst="line">
            <a:avLst/>
          </a:prstGeom>
          <a:ln cap="flat" w="57150">
            <a:gradFill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3454549" y="5799575"/>
            <a:ext cx="927314" cy="0"/>
          </a:xfrm>
          <a:prstGeom prst="line">
            <a:avLst/>
          </a:prstGeom>
          <a:ln cap="flat" w="57150">
            <a:gradFill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5270930" y="5799575"/>
            <a:ext cx="1300185" cy="13821"/>
          </a:xfrm>
          <a:prstGeom prst="line">
            <a:avLst/>
          </a:prstGeom>
          <a:ln cap="flat" w="57150">
            <a:gradFill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 flipV="true">
            <a:off x="7503341" y="5799575"/>
            <a:ext cx="1101551" cy="13821"/>
          </a:xfrm>
          <a:prstGeom prst="line">
            <a:avLst/>
          </a:prstGeom>
          <a:ln cap="flat" w="57150">
            <a:gradFill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9683108" y="5799575"/>
            <a:ext cx="1104900" cy="13821"/>
          </a:xfrm>
          <a:prstGeom prst="line">
            <a:avLst/>
          </a:prstGeom>
          <a:ln cap="flat" w="57150">
            <a:gradFill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>
            <a:off x="1005734" y="6200577"/>
            <a:ext cx="0" cy="611180"/>
          </a:xfrm>
          <a:prstGeom prst="line">
            <a:avLst/>
          </a:prstGeom>
          <a:ln cap="flat" w="47625">
            <a:solidFill>
              <a:srgbClr val="86EAE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9" id="39"/>
          <p:cNvSpPr/>
          <p:nvPr/>
        </p:nvSpPr>
        <p:spPr>
          <a:xfrm flipH="true">
            <a:off x="4826396" y="6200577"/>
            <a:ext cx="0" cy="611180"/>
          </a:xfrm>
          <a:prstGeom prst="line">
            <a:avLst/>
          </a:prstGeom>
          <a:ln cap="flat" w="47625">
            <a:solidFill>
              <a:srgbClr val="37C9E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0" id="40"/>
          <p:cNvSpPr/>
          <p:nvPr/>
        </p:nvSpPr>
        <p:spPr>
          <a:xfrm>
            <a:off x="9144000" y="6200577"/>
            <a:ext cx="0" cy="611180"/>
          </a:xfrm>
          <a:prstGeom prst="line">
            <a:avLst/>
          </a:prstGeom>
          <a:ln cap="flat" w="47625">
            <a:solidFill>
              <a:srgbClr val="1C88C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1" id="41"/>
          <p:cNvSpPr/>
          <p:nvPr/>
        </p:nvSpPr>
        <p:spPr>
          <a:xfrm>
            <a:off x="2962638" y="4769159"/>
            <a:ext cx="0" cy="629413"/>
          </a:xfrm>
          <a:prstGeom prst="line">
            <a:avLst/>
          </a:prstGeom>
          <a:ln cap="flat" w="47625">
            <a:solidFill>
              <a:srgbClr val="3EDAD8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>
            <a:off x="7037228" y="4769159"/>
            <a:ext cx="0" cy="643234"/>
          </a:xfrm>
          <a:prstGeom prst="line">
            <a:avLst/>
          </a:prstGeom>
          <a:ln cap="flat" w="47625">
            <a:solidFill>
              <a:srgbClr val="18AFD6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 flipH="true">
            <a:off x="11333358" y="4769159"/>
            <a:ext cx="0" cy="643234"/>
          </a:xfrm>
          <a:prstGeom prst="line">
            <a:avLst/>
          </a:prstGeom>
          <a:ln cap="flat" w="47625">
            <a:solidFill>
              <a:srgbClr val="13538A"/>
            </a:solidFill>
            <a:prstDash val="solid"/>
            <a:headEnd type="arrow" len="sm" w="med"/>
            <a:tailEnd type="none" len="sm" w="sm"/>
          </a:ln>
        </p:spPr>
      </p:sp>
      <p:grpSp>
        <p:nvGrpSpPr>
          <p:cNvPr name="Group 44" id="44"/>
          <p:cNvGrpSpPr/>
          <p:nvPr/>
        </p:nvGrpSpPr>
        <p:grpSpPr>
          <a:xfrm rot="0">
            <a:off x="12970057" y="5412393"/>
            <a:ext cx="1053247" cy="802005"/>
            <a:chOff x="0" y="0"/>
            <a:chExt cx="277398" cy="2112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77398" cy="211228"/>
            </a:xfrm>
            <a:custGeom>
              <a:avLst/>
              <a:gdLst/>
              <a:ahLst/>
              <a:cxnLst/>
              <a:rect r="r" b="b" t="t" l="l"/>
              <a:pathLst>
                <a:path h="211228" w="277398">
                  <a:moveTo>
                    <a:pt x="105614" y="0"/>
                  </a:moveTo>
                  <a:lnTo>
                    <a:pt x="171785" y="0"/>
                  </a:lnTo>
                  <a:cubicBezTo>
                    <a:pt x="199795" y="0"/>
                    <a:pt x="226658" y="11127"/>
                    <a:pt x="246465" y="30934"/>
                  </a:cubicBezTo>
                  <a:cubicBezTo>
                    <a:pt x="266271" y="50740"/>
                    <a:pt x="277398" y="77603"/>
                    <a:pt x="277398" y="105614"/>
                  </a:cubicBezTo>
                  <a:lnTo>
                    <a:pt x="277398" y="105614"/>
                  </a:lnTo>
                  <a:cubicBezTo>
                    <a:pt x="277398" y="163943"/>
                    <a:pt x="230113" y="211228"/>
                    <a:pt x="171785" y="211228"/>
                  </a:cubicBezTo>
                  <a:lnTo>
                    <a:pt x="105614" y="211228"/>
                  </a:lnTo>
                  <a:cubicBezTo>
                    <a:pt x="47285" y="211228"/>
                    <a:pt x="0" y="163943"/>
                    <a:pt x="0" y="105614"/>
                  </a:cubicBezTo>
                  <a:lnTo>
                    <a:pt x="0" y="105614"/>
                  </a:lnTo>
                  <a:cubicBezTo>
                    <a:pt x="0" y="47285"/>
                    <a:pt x="47285" y="0"/>
                    <a:pt x="105614" y="0"/>
                  </a:cubicBezTo>
                  <a:close/>
                </a:path>
              </a:pathLst>
            </a:custGeom>
            <a:solidFill>
              <a:srgbClr val="1C88CF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277398" cy="23980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120"/>
                </a:lnSpc>
              </a:pPr>
              <a:r>
                <a:rPr lang="en-US" sz="2400" b="true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7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4842346" y="5412393"/>
            <a:ext cx="1164446" cy="802005"/>
            <a:chOff x="0" y="0"/>
            <a:chExt cx="306685" cy="21122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06685" cy="211228"/>
            </a:xfrm>
            <a:custGeom>
              <a:avLst/>
              <a:gdLst/>
              <a:ahLst/>
              <a:cxnLst/>
              <a:rect r="r" b="b" t="t" l="l"/>
              <a:pathLst>
                <a:path h="211228" w="306685">
                  <a:moveTo>
                    <a:pt x="99729" y="0"/>
                  </a:moveTo>
                  <a:lnTo>
                    <a:pt x="206957" y="0"/>
                  </a:lnTo>
                  <a:cubicBezTo>
                    <a:pt x="233406" y="0"/>
                    <a:pt x="258773" y="10507"/>
                    <a:pt x="277476" y="29210"/>
                  </a:cubicBezTo>
                  <a:cubicBezTo>
                    <a:pt x="296178" y="47913"/>
                    <a:pt x="306685" y="73279"/>
                    <a:pt x="306685" y="99729"/>
                  </a:cubicBezTo>
                  <a:lnTo>
                    <a:pt x="306685" y="111499"/>
                  </a:lnTo>
                  <a:cubicBezTo>
                    <a:pt x="306685" y="137949"/>
                    <a:pt x="296178" y="163315"/>
                    <a:pt x="277476" y="182018"/>
                  </a:cubicBezTo>
                  <a:cubicBezTo>
                    <a:pt x="258773" y="200721"/>
                    <a:pt x="233406" y="211228"/>
                    <a:pt x="206957" y="211228"/>
                  </a:cubicBezTo>
                  <a:lnTo>
                    <a:pt x="99729" y="211228"/>
                  </a:lnTo>
                  <a:cubicBezTo>
                    <a:pt x="73279" y="211228"/>
                    <a:pt x="47913" y="200721"/>
                    <a:pt x="29210" y="182018"/>
                  </a:cubicBezTo>
                  <a:cubicBezTo>
                    <a:pt x="10507" y="163315"/>
                    <a:pt x="0" y="137949"/>
                    <a:pt x="0" y="111499"/>
                  </a:cubicBezTo>
                  <a:lnTo>
                    <a:pt x="0" y="99729"/>
                  </a:lnTo>
                  <a:cubicBezTo>
                    <a:pt x="0" y="73279"/>
                    <a:pt x="10507" y="47913"/>
                    <a:pt x="29210" y="29210"/>
                  </a:cubicBezTo>
                  <a:cubicBezTo>
                    <a:pt x="47913" y="10507"/>
                    <a:pt x="73279" y="0"/>
                    <a:pt x="99729" y="0"/>
                  </a:cubicBezTo>
                  <a:close/>
                </a:path>
              </a:pathLst>
            </a:custGeom>
            <a:solidFill>
              <a:srgbClr val="18AFD6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306685" cy="23980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120"/>
                </a:lnSpc>
              </a:pPr>
              <a:r>
                <a:rPr lang="en-US" sz="2400" b="true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8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6677077" y="5455692"/>
            <a:ext cx="1164446" cy="802005"/>
            <a:chOff x="0" y="0"/>
            <a:chExt cx="306685" cy="21122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06685" cy="211228"/>
            </a:xfrm>
            <a:custGeom>
              <a:avLst/>
              <a:gdLst/>
              <a:ahLst/>
              <a:cxnLst/>
              <a:rect r="r" b="b" t="t" l="l"/>
              <a:pathLst>
                <a:path h="211228" w="306685">
                  <a:moveTo>
                    <a:pt x="99729" y="0"/>
                  </a:moveTo>
                  <a:lnTo>
                    <a:pt x="206957" y="0"/>
                  </a:lnTo>
                  <a:cubicBezTo>
                    <a:pt x="233406" y="0"/>
                    <a:pt x="258773" y="10507"/>
                    <a:pt x="277476" y="29210"/>
                  </a:cubicBezTo>
                  <a:cubicBezTo>
                    <a:pt x="296178" y="47913"/>
                    <a:pt x="306685" y="73279"/>
                    <a:pt x="306685" y="99729"/>
                  </a:cubicBezTo>
                  <a:lnTo>
                    <a:pt x="306685" y="111499"/>
                  </a:lnTo>
                  <a:cubicBezTo>
                    <a:pt x="306685" y="137949"/>
                    <a:pt x="296178" y="163315"/>
                    <a:pt x="277476" y="182018"/>
                  </a:cubicBezTo>
                  <a:cubicBezTo>
                    <a:pt x="258773" y="200721"/>
                    <a:pt x="233406" y="211228"/>
                    <a:pt x="206957" y="211228"/>
                  </a:cubicBezTo>
                  <a:lnTo>
                    <a:pt x="99729" y="211228"/>
                  </a:lnTo>
                  <a:cubicBezTo>
                    <a:pt x="73279" y="211228"/>
                    <a:pt x="47913" y="200721"/>
                    <a:pt x="29210" y="182018"/>
                  </a:cubicBezTo>
                  <a:cubicBezTo>
                    <a:pt x="10507" y="163315"/>
                    <a:pt x="0" y="137949"/>
                    <a:pt x="0" y="111499"/>
                  </a:cubicBezTo>
                  <a:lnTo>
                    <a:pt x="0" y="99729"/>
                  </a:lnTo>
                  <a:cubicBezTo>
                    <a:pt x="0" y="73279"/>
                    <a:pt x="10507" y="47913"/>
                    <a:pt x="29210" y="29210"/>
                  </a:cubicBezTo>
                  <a:cubicBezTo>
                    <a:pt x="47913" y="10507"/>
                    <a:pt x="73279" y="0"/>
                    <a:pt x="99729" y="0"/>
                  </a:cubicBezTo>
                  <a:close/>
                </a:path>
              </a:pathLst>
            </a:custGeom>
            <a:solidFill>
              <a:srgbClr val="3EDAD8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306685" cy="23980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120"/>
                </a:lnSpc>
              </a:pPr>
              <a:r>
                <a:rPr lang="en-US" sz="2400" b="true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9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flipV="true">
            <a:off x="11879066" y="5775373"/>
            <a:ext cx="1127099" cy="52775"/>
          </a:xfrm>
          <a:prstGeom prst="line">
            <a:avLst/>
          </a:prstGeom>
          <a:ln cap="flat" w="57150">
            <a:gradFill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54" id="54"/>
          <p:cNvSpPr/>
          <p:nvPr/>
        </p:nvSpPr>
        <p:spPr>
          <a:xfrm>
            <a:off x="14023661" y="5821237"/>
            <a:ext cx="818685" cy="36020"/>
          </a:xfrm>
          <a:prstGeom prst="line">
            <a:avLst/>
          </a:prstGeom>
          <a:ln cap="flat" w="57150">
            <a:gradFill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>
            <a:off x="16008048" y="5856695"/>
            <a:ext cx="669029" cy="0"/>
          </a:xfrm>
          <a:prstGeom prst="line">
            <a:avLst/>
          </a:prstGeom>
          <a:ln cap="flat" w="57150">
            <a:gradFill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>
            <a:off x="13496681" y="6214398"/>
            <a:ext cx="0" cy="553738"/>
          </a:xfrm>
          <a:prstGeom prst="line">
            <a:avLst/>
          </a:prstGeom>
          <a:ln cap="flat" w="47625">
            <a:solidFill>
              <a:srgbClr val="1C88C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7" id="57"/>
          <p:cNvSpPr/>
          <p:nvPr/>
        </p:nvSpPr>
        <p:spPr>
          <a:xfrm>
            <a:off x="15400757" y="4821883"/>
            <a:ext cx="0" cy="643234"/>
          </a:xfrm>
          <a:prstGeom prst="line">
            <a:avLst/>
          </a:prstGeom>
          <a:ln cap="flat" w="47625">
            <a:solidFill>
              <a:srgbClr val="18AFD6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58" id="58"/>
          <p:cNvSpPr/>
          <p:nvPr/>
        </p:nvSpPr>
        <p:spPr>
          <a:xfrm flipV="true">
            <a:off x="17259300" y="6257697"/>
            <a:ext cx="0" cy="480742"/>
          </a:xfrm>
          <a:prstGeom prst="line">
            <a:avLst/>
          </a:prstGeom>
          <a:ln cap="flat" w="47625">
            <a:solidFill>
              <a:srgbClr val="3EDAD8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TextBox 59" id="59"/>
          <p:cNvSpPr txBox="true"/>
          <p:nvPr/>
        </p:nvSpPr>
        <p:spPr>
          <a:xfrm rot="0">
            <a:off x="1761801" y="3750447"/>
            <a:ext cx="2457578" cy="870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399" spc="35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Exploratory Data Analysis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597607" y="7260808"/>
            <a:ext cx="2457578" cy="870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399" spc="35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Feature Engineering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667472" y="3750447"/>
            <a:ext cx="2457578" cy="870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399" spc="35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Categorical Encoding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915211" y="7260808"/>
            <a:ext cx="2457578" cy="422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399" spc="35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Outlier Handling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124386" y="3750447"/>
            <a:ext cx="2457578" cy="422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399" spc="35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Scaling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2384768" y="7260808"/>
            <a:ext cx="2457578" cy="422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399" spc="35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Model Training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4029765" y="3750447"/>
            <a:ext cx="2457578" cy="870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399" spc="35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Model Comparison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5830422" y="7260808"/>
            <a:ext cx="2457578" cy="870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399" spc="35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Deployment with Streamlit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273330">
            <a:off x="7879167" y="-1708336"/>
            <a:ext cx="8300686" cy="8300686"/>
          </a:xfrm>
          <a:custGeom>
            <a:avLst/>
            <a:gdLst/>
            <a:ahLst/>
            <a:cxnLst/>
            <a:rect r="r" b="b" t="t" l="l"/>
            <a:pathLst>
              <a:path h="8300686" w="8300686">
                <a:moveTo>
                  <a:pt x="0" y="0"/>
                </a:moveTo>
                <a:lnTo>
                  <a:pt x="8300686" y="0"/>
                </a:lnTo>
                <a:lnTo>
                  <a:pt x="8300686" y="8300686"/>
                </a:lnTo>
                <a:lnTo>
                  <a:pt x="0" y="8300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742586" y="1147203"/>
            <a:ext cx="6654835" cy="8332486"/>
            <a:chOff x="0" y="0"/>
            <a:chExt cx="1752714" cy="21945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52714" cy="2194564"/>
            </a:xfrm>
            <a:custGeom>
              <a:avLst/>
              <a:gdLst/>
              <a:ahLst/>
              <a:cxnLst/>
              <a:rect r="r" b="b" t="t" l="l"/>
              <a:pathLst>
                <a:path h="2194564" w="1752714">
                  <a:moveTo>
                    <a:pt x="59331" y="0"/>
                  </a:moveTo>
                  <a:lnTo>
                    <a:pt x="1693383" y="0"/>
                  </a:lnTo>
                  <a:cubicBezTo>
                    <a:pt x="1709118" y="0"/>
                    <a:pt x="1724209" y="6251"/>
                    <a:pt x="1735336" y="17378"/>
                  </a:cubicBezTo>
                  <a:cubicBezTo>
                    <a:pt x="1746463" y="28504"/>
                    <a:pt x="1752714" y="43595"/>
                    <a:pt x="1752714" y="59331"/>
                  </a:cubicBezTo>
                  <a:lnTo>
                    <a:pt x="1752714" y="2135233"/>
                  </a:lnTo>
                  <a:cubicBezTo>
                    <a:pt x="1752714" y="2150969"/>
                    <a:pt x="1746463" y="2166060"/>
                    <a:pt x="1735336" y="2177187"/>
                  </a:cubicBezTo>
                  <a:cubicBezTo>
                    <a:pt x="1724209" y="2188313"/>
                    <a:pt x="1709118" y="2194564"/>
                    <a:pt x="1693383" y="2194564"/>
                  </a:cubicBezTo>
                  <a:lnTo>
                    <a:pt x="59331" y="2194564"/>
                  </a:lnTo>
                  <a:cubicBezTo>
                    <a:pt x="43595" y="2194564"/>
                    <a:pt x="28504" y="2188313"/>
                    <a:pt x="17378" y="2177187"/>
                  </a:cubicBezTo>
                  <a:cubicBezTo>
                    <a:pt x="6251" y="2166060"/>
                    <a:pt x="0" y="2150969"/>
                    <a:pt x="0" y="2135233"/>
                  </a:cubicBezTo>
                  <a:lnTo>
                    <a:pt x="0" y="59331"/>
                  </a:lnTo>
                  <a:cubicBezTo>
                    <a:pt x="0" y="43595"/>
                    <a:pt x="6251" y="28504"/>
                    <a:pt x="17378" y="17378"/>
                  </a:cubicBezTo>
                  <a:cubicBezTo>
                    <a:pt x="28504" y="6251"/>
                    <a:pt x="43595" y="0"/>
                    <a:pt x="59331" y="0"/>
                  </a:cubicBezTo>
                  <a:close/>
                </a:path>
              </a:pathLst>
            </a:custGeom>
            <a:solidFill>
              <a:srgbClr val="13538A">
                <a:alpha val="4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752714" cy="22612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612202" y="1527464"/>
            <a:ext cx="5647098" cy="7588635"/>
            <a:chOff x="0" y="0"/>
            <a:chExt cx="731380" cy="9828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1380" cy="982836"/>
            </a:xfrm>
            <a:custGeom>
              <a:avLst/>
              <a:gdLst/>
              <a:ahLst/>
              <a:cxnLst/>
              <a:rect r="r" b="b" t="t" l="l"/>
              <a:pathLst>
                <a:path h="982836" w="731380">
                  <a:moveTo>
                    <a:pt x="34274" y="0"/>
                  </a:moveTo>
                  <a:lnTo>
                    <a:pt x="697106" y="0"/>
                  </a:lnTo>
                  <a:cubicBezTo>
                    <a:pt x="706196" y="0"/>
                    <a:pt x="714913" y="3611"/>
                    <a:pt x="721341" y="10039"/>
                  </a:cubicBezTo>
                  <a:cubicBezTo>
                    <a:pt x="727769" y="16466"/>
                    <a:pt x="731380" y="25184"/>
                    <a:pt x="731380" y="34274"/>
                  </a:cubicBezTo>
                  <a:lnTo>
                    <a:pt x="731380" y="948562"/>
                  </a:lnTo>
                  <a:cubicBezTo>
                    <a:pt x="731380" y="967491"/>
                    <a:pt x="716035" y="982836"/>
                    <a:pt x="697106" y="982836"/>
                  </a:cubicBezTo>
                  <a:lnTo>
                    <a:pt x="34274" y="982836"/>
                  </a:lnTo>
                  <a:cubicBezTo>
                    <a:pt x="15345" y="982836"/>
                    <a:pt x="0" y="967491"/>
                    <a:pt x="0" y="948562"/>
                  </a:cubicBezTo>
                  <a:lnTo>
                    <a:pt x="0" y="34274"/>
                  </a:lnTo>
                  <a:cubicBezTo>
                    <a:pt x="0" y="15345"/>
                    <a:pt x="15345" y="0"/>
                    <a:pt x="34274" y="0"/>
                  </a:cubicBezTo>
                  <a:close/>
                </a:path>
              </a:pathLst>
            </a:custGeom>
            <a:blipFill>
              <a:blip r:embed="rId4"/>
              <a:stretch>
                <a:fillRect l="-198" t="0" r="-198" b="0"/>
              </a:stretch>
            </a:blipFill>
            <a:ln w="95250" cap="rnd">
              <a:gradFill>
                <a:gsLst>
                  <a:gs pos="0">
                    <a:srgbClr val="A1B1F7">
                      <a:alpha val="100000"/>
                    </a:srgbClr>
                  </a:gs>
                  <a:gs pos="100000">
                    <a:srgbClr val="334BAE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-9752959">
            <a:off x="-5326295" y="3788961"/>
            <a:ext cx="8324419" cy="7174136"/>
          </a:xfrm>
          <a:custGeom>
            <a:avLst/>
            <a:gdLst/>
            <a:ahLst/>
            <a:cxnLst/>
            <a:rect r="r" b="b" t="t" l="l"/>
            <a:pathLst>
              <a:path h="7174136" w="8324419">
                <a:moveTo>
                  <a:pt x="0" y="0"/>
                </a:moveTo>
                <a:lnTo>
                  <a:pt x="8324420" y="0"/>
                </a:lnTo>
                <a:lnTo>
                  <a:pt x="8324420" y="7174136"/>
                </a:lnTo>
                <a:lnTo>
                  <a:pt x="0" y="71741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13481" y="3623508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0"/>
                </a:lnTo>
                <a:lnTo>
                  <a:pt x="0" y="3667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8350144">
            <a:off x="1316857" y="-5183339"/>
            <a:ext cx="9849240" cy="8488254"/>
          </a:xfrm>
          <a:custGeom>
            <a:avLst/>
            <a:gdLst/>
            <a:ahLst/>
            <a:cxnLst/>
            <a:rect r="r" b="b" t="t" l="l"/>
            <a:pathLst>
              <a:path h="8488254" w="9849240">
                <a:moveTo>
                  <a:pt x="0" y="0"/>
                </a:moveTo>
                <a:lnTo>
                  <a:pt x="9849239" y="0"/>
                </a:lnTo>
                <a:lnTo>
                  <a:pt x="9849239" y="8488254"/>
                </a:lnTo>
                <a:lnTo>
                  <a:pt x="0" y="84882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505044" y="406108"/>
            <a:ext cx="7025593" cy="2595912"/>
            <a:chOff x="0" y="0"/>
            <a:chExt cx="1850362" cy="6836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50362" cy="683697"/>
            </a:xfrm>
            <a:custGeom>
              <a:avLst/>
              <a:gdLst/>
              <a:ahLst/>
              <a:cxnLst/>
              <a:rect r="r" b="b" t="t" l="l"/>
              <a:pathLst>
                <a:path h="683697" w="1850362">
                  <a:moveTo>
                    <a:pt x="0" y="0"/>
                  </a:moveTo>
                  <a:lnTo>
                    <a:pt x="1850362" y="0"/>
                  </a:lnTo>
                  <a:lnTo>
                    <a:pt x="1850362" y="683697"/>
                  </a:lnTo>
                  <a:lnTo>
                    <a:pt x="0" y="683697"/>
                  </a:lnTo>
                  <a:close/>
                </a:path>
              </a:pathLst>
            </a:custGeom>
            <a:solidFill>
              <a:srgbClr val="334BA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850362" cy="750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7009248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1"/>
                </a:lnTo>
                <a:lnTo>
                  <a:pt x="0" y="36678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10932" y="3528258"/>
            <a:ext cx="9521413" cy="420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2"/>
              </a:lnSpc>
            </a:pPr>
            <a:r>
              <a:rPr lang="en-US" sz="3116" b="true">
                <a:solidFill>
                  <a:srgbClr val="334BAE"/>
                </a:solidFill>
                <a:latin typeface="Poppins Bold"/>
                <a:ea typeface="Poppins Bold"/>
                <a:cs typeface="Poppins Bold"/>
                <a:sym typeface="Poppins Bold"/>
              </a:rPr>
              <a:t>The dataset contains:</a:t>
            </a:r>
          </a:p>
          <a:p>
            <a:pPr algn="l" marL="588663" indent="-294332" lvl="1">
              <a:lnSpc>
                <a:spcPts val="3817"/>
              </a:lnSpc>
              <a:buFont typeface="Arial"/>
              <a:buChar char="•"/>
            </a:pPr>
            <a:r>
              <a:rPr lang="en-US" sz="2726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9,994 rows</a:t>
            </a:r>
          </a:p>
          <a:p>
            <a:pPr algn="l" marL="588663" indent="-294332" lvl="1">
              <a:lnSpc>
                <a:spcPts val="3817"/>
              </a:lnSpc>
              <a:buFont typeface="Arial"/>
              <a:buChar char="•"/>
            </a:pPr>
            <a:r>
              <a:rPr lang="en-US" sz="2726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21 features (after dropping unnecessary columns → 16 remain)</a:t>
            </a:r>
          </a:p>
          <a:p>
            <a:pPr algn="l" marL="588663" indent="-294332" lvl="1">
              <a:lnSpc>
                <a:spcPts val="3817"/>
              </a:lnSpc>
              <a:buFont typeface="Arial"/>
              <a:buChar char="•"/>
            </a:pPr>
            <a:r>
              <a:rPr lang="en-US" sz="2726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Includes customer info, shipping info, product categories, pricing, profit, and dates.</a:t>
            </a:r>
          </a:p>
          <a:p>
            <a:pPr algn="l">
              <a:lnSpc>
                <a:spcPts val="3271"/>
              </a:lnSpc>
              <a:spcBef>
                <a:spcPct val="0"/>
              </a:spcBef>
            </a:pPr>
          </a:p>
          <a:p>
            <a:pPr algn="l">
              <a:lnSpc>
                <a:spcPts val="3271"/>
              </a:lnSpc>
              <a:spcBef>
                <a:spcPct val="0"/>
              </a:spcBef>
            </a:pPr>
          </a:p>
          <a:p>
            <a:pPr algn="l">
              <a:lnSpc>
                <a:spcPts val="3271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610932" y="644222"/>
            <a:ext cx="6658648" cy="2086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Our Core Strengths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10932" y="6902716"/>
            <a:ext cx="9521413" cy="401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2"/>
              </a:lnSpc>
            </a:pPr>
            <a:r>
              <a:rPr lang="en-US" sz="3116" b="true">
                <a:solidFill>
                  <a:srgbClr val="334BAE"/>
                </a:solidFill>
                <a:latin typeface="Poppins Bold"/>
                <a:ea typeface="Poppins Bold"/>
                <a:cs typeface="Poppins Bold"/>
                <a:sym typeface="Poppins Bold"/>
              </a:rPr>
              <a:t>Types of data:</a:t>
            </a:r>
          </a:p>
          <a:p>
            <a:pPr algn="l" marL="672760" indent="-336380" lvl="1">
              <a:lnSpc>
                <a:spcPts val="4362"/>
              </a:lnSpc>
              <a:buFont typeface="Arial"/>
              <a:buChar char="•"/>
            </a:pPr>
            <a:r>
              <a:rPr lang="en-US" sz="3116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Categorical: Ship</a:t>
            </a:r>
            <a:r>
              <a:rPr lang="en-US" sz="3116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 Mode, Segment, Region, Category, City, etc.</a:t>
            </a:r>
          </a:p>
          <a:p>
            <a:pPr algn="l" marL="672760" indent="-336380" lvl="1">
              <a:lnSpc>
                <a:spcPts val="4362"/>
              </a:lnSpc>
              <a:buFont typeface="Arial"/>
              <a:buChar char="•"/>
            </a:pPr>
            <a:r>
              <a:rPr lang="en-US" sz="3116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Numerical: Sales, Quantity, Discount, Profit</a:t>
            </a:r>
          </a:p>
          <a:p>
            <a:pPr algn="l" marL="672760" indent="-336380" lvl="1">
              <a:lnSpc>
                <a:spcPts val="4362"/>
              </a:lnSpc>
              <a:buFont typeface="Arial"/>
              <a:buChar char="•"/>
            </a:pPr>
            <a:r>
              <a:rPr lang="en-US" sz="3116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Date: Order Date, Ship Date</a:t>
            </a:r>
          </a:p>
          <a:p>
            <a:pPr algn="l">
              <a:lnSpc>
                <a:spcPts val="3271"/>
              </a:lnSpc>
              <a:spcBef>
                <a:spcPct val="0"/>
              </a:spcBef>
            </a:pPr>
          </a:p>
          <a:p>
            <a:pPr algn="l">
              <a:lnSpc>
                <a:spcPts val="3271"/>
              </a:lnSpc>
              <a:spcBef>
                <a:spcPct val="0"/>
              </a:spcBef>
            </a:pPr>
          </a:p>
          <a:p>
            <a:pPr algn="l">
              <a:lnSpc>
                <a:spcPts val="3271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34B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9177516">
            <a:off x="-2136138" y="-4472096"/>
            <a:ext cx="7115412" cy="15060368"/>
            <a:chOff x="0" y="0"/>
            <a:chExt cx="1874018" cy="39665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74018" cy="3966516"/>
            </a:xfrm>
            <a:custGeom>
              <a:avLst/>
              <a:gdLst/>
              <a:ahLst/>
              <a:cxnLst/>
              <a:rect r="r" b="b" t="t" l="l"/>
              <a:pathLst>
                <a:path h="3966516" w="1874018">
                  <a:moveTo>
                    <a:pt x="0" y="0"/>
                  </a:moveTo>
                  <a:lnTo>
                    <a:pt x="1874018" y="0"/>
                  </a:lnTo>
                  <a:lnTo>
                    <a:pt x="1874018" y="3966516"/>
                  </a:lnTo>
                  <a:lnTo>
                    <a:pt x="0" y="3966516"/>
                  </a:lnTo>
                  <a:close/>
                </a:path>
              </a:pathLst>
            </a:custGeom>
            <a:gradFill rotWithShape="true">
              <a:gsLst>
                <a:gs pos="0">
                  <a:srgbClr val="334BAE">
                    <a:alpha val="0"/>
                  </a:srgbClr>
                </a:gs>
                <a:gs pos="100000">
                  <a:srgbClr val="172975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874018" cy="401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-2165849" y="6482690"/>
            <a:ext cx="5628742" cy="6250522"/>
          </a:xfrm>
          <a:custGeom>
            <a:avLst/>
            <a:gdLst/>
            <a:ahLst/>
            <a:cxnLst/>
            <a:rect r="r" b="b" t="t" l="l"/>
            <a:pathLst>
              <a:path h="6250522" w="5628742">
                <a:moveTo>
                  <a:pt x="0" y="0"/>
                </a:moveTo>
                <a:lnTo>
                  <a:pt x="5628742" y="0"/>
                </a:lnTo>
                <a:lnTo>
                  <a:pt x="5628742" y="6250522"/>
                </a:lnTo>
                <a:lnTo>
                  <a:pt x="0" y="62505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5400000">
            <a:off x="172327" y="5733539"/>
            <a:ext cx="5072749" cy="4120359"/>
            <a:chOff x="0" y="0"/>
            <a:chExt cx="1336033" cy="10851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36033" cy="1085198"/>
            </a:xfrm>
            <a:custGeom>
              <a:avLst/>
              <a:gdLst/>
              <a:ahLst/>
              <a:cxnLst/>
              <a:rect r="r" b="b" t="t" l="l"/>
              <a:pathLst>
                <a:path h="1085198" w="1336033">
                  <a:moveTo>
                    <a:pt x="0" y="0"/>
                  </a:moveTo>
                  <a:lnTo>
                    <a:pt x="1336033" y="0"/>
                  </a:lnTo>
                  <a:lnTo>
                    <a:pt x="1336033" y="1085198"/>
                  </a:lnTo>
                  <a:lnTo>
                    <a:pt x="0" y="1085198"/>
                  </a:lnTo>
                  <a:close/>
                </a:path>
              </a:pathLst>
            </a:custGeom>
            <a:gradFill rotWithShape="true">
              <a:gsLst>
                <a:gs pos="0">
                  <a:srgbClr val="334BAE">
                    <a:alpha val="0"/>
                  </a:srgbClr>
                </a:gs>
                <a:gs pos="100000">
                  <a:srgbClr val="172975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336033" cy="1132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8522" y="5002848"/>
            <a:ext cx="4078905" cy="3983965"/>
            <a:chOff x="0" y="0"/>
            <a:chExt cx="500073" cy="4884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0073" cy="488434"/>
            </a:xfrm>
            <a:custGeom>
              <a:avLst/>
              <a:gdLst/>
              <a:ahLst/>
              <a:cxnLst/>
              <a:rect r="r" b="b" t="t" l="l"/>
              <a:pathLst>
                <a:path h="488434" w="500073">
                  <a:moveTo>
                    <a:pt x="94902" y="0"/>
                  </a:moveTo>
                  <a:lnTo>
                    <a:pt x="405171" y="0"/>
                  </a:lnTo>
                  <a:cubicBezTo>
                    <a:pt x="430341" y="0"/>
                    <a:pt x="454480" y="9999"/>
                    <a:pt x="472277" y="27796"/>
                  </a:cubicBezTo>
                  <a:cubicBezTo>
                    <a:pt x="490075" y="45594"/>
                    <a:pt x="500073" y="69732"/>
                    <a:pt x="500073" y="94902"/>
                  </a:cubicBezTo>
                  <a:lnTo>
                    <a:pt x="500073" y="393532"/>
                  </a:lnTo>
                  <a:cubicBezTo>
                    <a:pt x="500073" y="418701"/>
                    <a:pt x="490075" y="442840"/>
                    <a:pt x="472277" y="460638"/>
                  </a:cubicBezTo>
                  <a:cubicBezTo>
                    <a:pt x="454480" y="478435"/>
                    <a:pt x="430341" y="488434"/>
                    <a:pt x="405171" y="488434"/>
                  </a:cubicBezTo>
                  <a:lnTo>
                    <a:pt x="94902" y="488434"/>
                  </a:lnTo>
                  <a:cubicBezTo>
                    <a:pt x="69732" y="488434"/>
                    <a:pt x="45594" y="478435"/>
                    <a:pt x="27796" y="460638"/>
                  </a:cubicBezTo>
                  <a:cubicBezTo>
                    <a:pt x="9999" y="442840"/>
                    <a:pt x="0" y="418701"/>
                    <a:pt x="0" y="393532"/>
                  </a:cubicBezTo>
                  <a:lnTo>
                    <a:pt x="0" y="94902"/>
                  </a:lnTo>
                  <a:cubicBezTo>
                    <a:pt x="0" y="69732"/>
                    <a:pt x="9999" y="45594"/>
                    <a:pt x="27796" y="27796"/>
                  </a:cubicBezTo>
                  <a:cubicBezTo>
                    <a:pt x="45594" y="9999"/>
                    <a:pt x="69732" y="0"/>
                    <a:pt x="94902" y="0"/>
                  </a:cubicBezTo>
                  <a:close/>
                </a:path>
              </a:pathLst>
            </a:custGeom>
            <a:blipFill>
              <a:blip r:embed="rId4"/>
              <a:stretch>
                <a:fillRect l="-6080" t="0" r="-6080" b="0"/>
              </a:stretch>
            </a:blipFill>
            <a:ln w="95250" cap="rnd">
              <a:solidFill>
                <a:srgbClr val="A1B1F7"/>
              </a:solidFill>
              <a:prstDash val="solid"/>
              <a:round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783212" y="461684"/>
            <a:ext cx="11480308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Exploratory Data Analysis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10800000">
            <a:off x="15140462" y="-3076342"/>
            <a:ext cx="5628742" cy="6250522"/>
          </a:xfrm>
          <a:custGeom>
            <a:avLst/>
            <a:gdLst/>
            <a:ahLst/>
            <a:cxnLst/>
            <a:rect r="r" b="b" t="t" l="l"/>
            <a:pathLst>
              <a:path h="6250522" w="5628742">
                <a:moveTo>
                  <a:pt x="0" y="0"/>
                </a:moveTo>
                <a:lnTo>
                  <a:pt x="5628742" y="0"/>
                </a:lnTo>
                <a:lnTo>
                  <a:pt x="5628742" y="6250521"/>
                </a:lnTo>
                <a:lnTo>
                  <a:pt x="0" y="6250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480892" y="463024"/>
            <a:ext cx="1614216" cy="1614216"/>
          </a:xfrm>
          <a:custGeom>
            <a:avLst/>
            <a:gdLst/>
            <a:ahLst/>
            <a:cxnLst/>
            <a:rect r="r" b="b" t="t" l="l"/>
            <a:pathLst>
              <a:path h="1614216" w="1614216">
                <a:moveTo>
                  <a:pt x="0" y="0"/>
                </a:moveTo>
                <a:lnTo>
                  <a:pt x="1614216" y="0"/>
                </a:lnTo>
                <a:lnTo>
                  <a:pt x="1614216" y="1614216"/>
                </a:lnTo>
                <a:lnTo>
                  <a:pt x="0" y="16142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807108" y="7644084"/>
            <a:ext cx="1614216" cy="1614216"/>
          </a:xfrm>
          <a:custGeom>
            <a:avLst/>
            <a:gdLst/>
            <a:ahLst/>
            <a:cxnLst/>
            <a:rect r="r" b="b" t="t" l="l"/>
            <a:pathLst>
              <a:path h="1614216" w="1614216">
                <a:moveTo>
                  <a:pt x="0" y="0"/>
                </a:moveTo>
                <a:lnTo>
                  <a:pt x="1614216" y="0"/>
                </a:lnTo>
                <a:lnTo>
                  <a:pt x="1614216" y="1614216"/>
                </a:lnTo>
                <a:lnTo>
                  <a:pt x="0" y="16142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6046272">
            <a:off x="-3817229" y="-3039149"/>
            <a:ext cx="10024548" cy="6633216"/>
          </a:xfrm>
          <a:custGeom>
            <a:avLst/>
            <a:gdLst/>
            <a:ahLst/>
            <a:cxnLst/>
            <a:rect r="r" b="b" t="t" l="l"/>
            <a:pathLst>
              <a:path h="6633216" w="10024548">
                <a:moveTo>
                  <a:pt x="0" y="0"/>
                </a:moveTo>
                <a:lnTo>
                  <a:pt x="10024548" y="0"/>
                </a:lnTo>
                <a:lnTo>
                  <a:pt x="10024548" y="6633216"/>
                </a:lnTo>
                <a:lnTo>
                  <a:pt x="0" y="66332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6046272">
            <a:off x="13122965" y="3872807"/>
            <a:ext cx="10024548" cy="6633216"/>
          </a:xfrm>
          <a:custGeom>
            <a:avLst/>
            <a:gdLst/>
            <a:ahLst/>
            <a:cxnLst/>
            <a:rect r="r" b="b" t="t" l="l"/>
            <a:pathLst>
              <a:path h="6633216" w="10024548">
                <a:moveTo>
                  <a:pt x="0" y="0"/>
                </a:moveTo>
                <a:lnTo>
                  <a:pt x="10024548" y="0"/>
                </a:lnTo>
                <a:lnTo>
                  <a:pt x="10024548" y="6633216"/>
                </a:lnTo>
                <a:lnTo>
                  <a:pt x="0" y="66332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0044808" y="-1154087"/>
            <a:ext cx="10283828" cy="13195268"/>
            <a:chOff x="0" y="0"/>
            <a:chExt cx="2708498" cy="34752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08498" cy="3475297"/>
            </a:xfrm>
            <a:custGeom>
              <a:avLst/>
              <a:gdLst/>
              <a:ahLst/>
              <a:cxnLst/>
              <a:rect r="r" b="b" t="t" l="l"/>
              <a:pathLst>
                <a:path h="3475297" w="2708498">
                  <a:moveTo>
                    <a:pt x="0" y="0"/>
                  </a:moveTo>
                  <a:lnTo>
                    <a:pt x="2708498" y="0"/>
                  </a:lnTo>
                  <a:lnTo>
                    <a:pt x="2708498" y="3475297"/>
                  </a:lnTo>
                  <a:lnTo>
                    <a:pt x="0" y="3475297"/>
                  </a:lnTo>
                  <a:close/>
                </a:path>
              </a:pathLst>
            </a:custGeom>
            <a:gradFill rotWithShape="true">
              <a:gsLst>
                <a:gs pos="0">
                  <a:srgbClr val="334BAE">
                    <a:alpha val="0"/>
                  </a:srgbClr>
                </a:gs>
                <a:gs pos="100000">
                  <a:srgbClr val="172975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708498" cy="3522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608964" y="3439082"/>
            <a:ext cx="761259" cy="761259"/>
          </a:xfrm>
          <a:custGeom>
            <a:avLst/>
            <a:gdLst/>
            <a:ahLst/>
            <a:cxnLst/>
            <a:rect r="r" b="b" t="t" l="l"/>
            <a:pathLst>
              <a:path h="761259" w="761259">
                <a:moveTo>
                  <a:pt x="0" y="0"/>
                </a:moveTo>
                <a:lnTo>
                  <a:pt x="761259" y="0"/>
                </a:lnTo>
                <a:lnTo>
                  <a:pt x="761259" y="761259"/>
                </a:lnTo>
                <a:lnTo>
                  <a:pt x="0" y="76125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009321" y="3435567"/>
            <a:ext cx="761259" cy="761259"/>
          </a:xfrm>
          <a:custGeom>
            <a:avLst/>
            <a:gdLst/>
            <a:ahLst/>
            <a:cxnLst/>
            <a:rect r="r" b="b" t="t" l="l"/>
            <a:pathLst>
              <a:path h="761259" w="761259">
                <a:moveTo>
                  <a:pt x="0" y="0"/>
                </a:moveTo>
                <a:lnTo>
                  <a:pt x="761259" y="0"/>
                </a:lnTo>
                <a:lnTo>
                  <a:pt x="761259" y="761259"/>
                </a:lnTo>
                <a:lnTo>
                  <a:pt x="0" y="76125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283549" y="3382487"/>
            <a:ext cx="761259" cy="761259"/>
          </a:xfrm>
          <a:custGeom>
            <a:avLst/>
            <a:gdLst/>
            <a:ahLst/>
            <a:cxnLst/>
            <a:rect r="r" b="b" t="t" l="l"/>
            <a:pathLst>
              <a:path h="761259" w="761259">
                <a:moveTo>
                  <a:pt x="0" y="0"/>
                </a:moveTo>
                <a:lnTo>
                  <a:pt x="761259" y="0"/>
                </a:lnTo>
                <a:lnTo>
                  <a:pt x="761259" y="761259"/>
                </a:lnTo>
                <a:lnTo>
                  <a:pt x="0" y="76125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405695" y="3403654"/>
            <a:ext cx="761259" cy="761259"/>
          </a:xfrm>
          <a:custGeom>
            <a:avLst/>
            <a:gdLst/>
            <a:ahLst/>
            <a:cxnLst/>
            <a:rect r="r" b="b" t="t" l="l"/>
            <a:pathLst>
              <a:path h="761259" w="761259">
                <a:moveTo>
                  <a:pt x="0" y="0"/>
                </a:moveTo>
                <a:lnTo>
                  <a:pt x="761259" y="0"/>
                </a:lnTo>
                <a:lnTo>
                  <a:pt x="761259" y="761259"/>
                </a:lnTo>
                <a:lnTo>
                  <a:pt x="0" y="76125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5400000">
            <a:off x="4484391" y="5733539"/>
            <a:ext cx="5072749" cy="4120359"/>
            <a:chOff x="0" y="0"/>
            <a:chExt cx="1336033" cy="108519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36033" cy="1085198"/>
            </a:xfrm>
            <a:custGeom>
              <a:avLst/>
              <a:gdLst/>
              <a:ahLst/>
              <a:cxnLst/>
              <a:rect r="r" b="b" t="t" l="l"/>
              <a:pathLst>
                <a:path h="1085198" w="1336033">
                  <a:moveTo>
                    <a:pt x="0" y="0"/>
                  </a:moveTo>
                  <a:lnTo>
                    <a:pt x="1336033" y="0"/>
                  </a:lnTo>
                  <a:lnTo>
                    <a:pt x="1336033" y="1085198"/>
                  </a:lnTo>
                  <a:lnTo>
                    <a:pt x="0" y="1085198"/>
                  </a:lnTo>
                  <a:close/>
                </a:path>
              </a:pathLst>
            </a:custGeom>
            <a:gradFill rotWithShape="true">
              <a:gsLst>
                <a:gs pos="0">
                  <a:srgbClr val="334BAE">
                    <a:alpha val="0"/>
                  </a:srgbClr>
                </a:gs>
                <a:gs pos="100000">
                  <a:srgbClr val="172975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336033" cy="1132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946502" y="5002848"/>
            <a:ext cx="4107073" cy="4009860"/>
            <a:chOff x="0" y="0"/>
            <a:chExt cx="500073" cy="48823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00073" cy="488237"/>
            </a:xfrm>
            <a:custGeom>
              <a:avLst/>
              <a:gdLst/>
              <a:ahLst/>
              <a:cxnLst/>
              <a:rect r="r" b="b" t="t" l="l"/>
              <a:pathLst>
                <a:path h="488237" w="500073">
                  <a:moveTo>
                    <a:pt x="94251" y="0"/>
                  </a:moveTo>
                  <a:lnTo>
                    <a:pt x="405822" y="0"/>
                  </a:lnTo>
                  <a:cubicBezTo>
                    <a:pt x="430819" y="0"/>
                    <a:pt x="454792" y="9930"/>
                    <a:pt x="472468" y="27605"/>
                  </a:cubicBezTo>
                  <a:cubicBezTo>
                    <a:pt x="490143" y="45281"/>
                    <a:pt x="500073" y="69254"/>
                    <a:pt x="500073" y="94251"/>
                  </a:cubicBezTo>
                  <a:lnTo>
                    <a:pt x="500073" y="393986"/>
                  </a:lnTo>
                  <a:cubicBezTo>
                    <a:pt x="500073" y="418983"/>
                    <a:pt x="490143" y="442956"/>
                    <a:pt x="472468" y="460631"/>
                  </a:cubicBezTo>
                  <a:cubicBezTo>
                    <a:pt x="454792" y="478307"/>
                    <a:pt x="430819" y="488237"/>
                    <a:pt x="405822" y="488237"/>
                  </a:cubicBezTo>
                  <a:lnTo>
                    <a:pt x="94251" y="488237"/>
                  </a:lnTo>
                  <a:cubicBezTo>
                    <a:pt x="69254" y="488237"/>
                    <a:pt x="45281" y="478307"/>
                    <a:pt x="27605" y="460631"/>
                  </a:cubicBezTo>
                  <a:cubicBezTo>
                    <a:pt x="9930" y="442956"/>
                    <a:pt x="0" y="418983"/>
                    <a:pt x="0" y="393986"/>
                  </a:cubicBezTo>
                  <a:lnTo>
                    <a:pt x="0" y="94251"/>
                  </a:lnTo>
                  <a:cubicBezTo>
                    <a:pt x="0" y="69254"/>
                    <a:pt x="9930" y="45281"/>
                    <a:pt x="27605" y="27605"/>
                  </a:cubicBezTo>
                  <a:cubicBezTo>
                    <a:pt x="45281" y="9930"/>
                    <a:pt x="69254" y="0"/>
                    <a:pt x="94251" y="0"/>
                  </a:cubicBezTo>
                  <a:close/>
                </a:path>
              </a:pathLst>
            </a:custGeom>
            <a:blipFill>
              <a:blip r:embed="rId11"/>
              <a:stretch>
                <a:fillRect l="-5898" t="0" r="-5898" b="0"/>
              </a:stretch>
            </a:blipFill>
            <a:ln w="95250" cap="rnd">
              <a:solidFill>
                <a:srgbClr val="A1B1F7"/>
              </a:solidFill>
              <a:prstDash val="solid"/>
              <a:round/>
            </a:ln>
          </p:spPr>
        </p:sp>
      </p:grpSp>
      <p:grpSp>
        <p:nvGrpSpPr>
          <p:cNvPr name="Group 29" id="29"/>
          <p:cNvGrpSpPr/>
          <p:nvPr/>
        </p:nvGrpSpPr>
        <p:grpSpPr>
          <a:xfrm rot="5400000">
            <a:off x="8761089" y="5885939"/>
            <a:ext cx="5072749" cy="4120359"/>
            <a:chOff x="0" y="0"/>
            <a:chExt cx="1336033" cy="108519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36033" cy="1085198"/>
            </a:xfrm>
            <a:custGeom>
              <a:avLst/>
              <a:gdLst/>
              <a:ahLst/>
              <a:cxnLst/>
              <a:rect r="r" b="b" t="t" l="l"/>
              <a:pathLst>
                <a:path h="1085198" w="1336033">
                  <a:moveTo>
                    <a:pt x="0" y="0"/>
                  </a:moveTo>
                  <a:lnTo>
                    <a:pt x="1336033" y="0"/>
                  </a:lnTo>
                  <a:lnTo>
                    <a:pt x="1336033" y="1085198"/>
                  </a:lnTo>
                  <a:lnTo>
                    <a:pt x="0" y="1085198"/>
                  </a:lnTo>
                  <a:close/>
                </a:path>
              </a:pathLst>
            </a:custGeom>
            <a:gradFill rotWithShape="true">
              <a:gsLst>
                <a:gs pos="0">
                  <a:srgbClr val="334BAE">
                    <a:alpha val="0"/>
                  </a:srgbClr>
                </a:gs>
                <a:gs pos="100000">
                  <a:srgbClr val="172975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336033" cy="1132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272650" y="5002848"/>
            <a:ext cx="4084994" cy="4009860"/>
            <a:chOff x="0" y="0"/>
            <a:chExt cx="500073" cy="49087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00073" cy="490876"/>
            </a:xfrm>
            <a:custGeom>
              <a:avLst/>
              <a:gdLst/>
              <a:ahLst/>
              <a:cxnLst/>
              <a:rect r="r" b="b" t="t" l="l"/>
              <a:pathLst>
                <a:path h="490876" w="500073">
                  <a:moveTo>
                    <a:pt x="94760" y="0"/>
                  </a:moveTo>
                  <a:lnTo>
                    <a:pt x="405313" y="0"/>
                  </a:lnTo>
                  <a:cubicBezTo>
                    <a:pt x="457648" y="0"/>
                    <a:pt x="500073" y="42426"/>
                    <a:pt x="500073" y="94760"/>
                  </a:cubicBezTo>
                  <a:lnTo>
                    <a:pt x="500073" y="396115"/>
                  </a:lnTo>
                  <a:cubicBezTo>
                    <a:pt x="500073" y="421247"/>
                    <a:pt x="490090" y="445350"/>
                    <a:pt x="472319" y="463121"/>
                  </a:cubicBezTo>
                  <a:cubicBezTo>
                    <a:pt x="454548" y="480892"/>
                    <a:pt x="430445" y="490876"/>
                    <a:pt x="405313" y="490876"/>
                  </a:cubicBezTo>
                  <a:lnTo>
                    <a:pt x="94760" y="490876"/>
                  </a:lnTo>
                  <a:cubicBezTo>
                    <a:pt x="42426" y="490876"/>
                    <a:pt x="0" y="448450"/>
                    <a:pt x="0" y="396115"/>
                  </a:cubicBezTo>
                  <a:lnTo>
                    <a:pt x="0" y="94760"/>
                  </a:lnTo>
                  <a:cubicBezTo>
                    <a:pt x="0" y="42426"/>
                    <a:pt x="42426" y="0"/>
                    <a:pt x="94760" y="0"/>
                  </a:cubicBezTo>
                  <a:close/>
                </a:path>
              </a:pathLst>
            </a:custGeom>
            <a:blipFill>
              <a:blip r:embed="rId12"/>
              <a:stretch>
                <a:fillRect l="-4200" t="0" r="-4200" b="0"/>
              </a:stretch>
            </a:blipFill>
            <a:ln w="95250" cap="rnd">
              <a:solidFill>
                <a:srgbClr val="A1B1F7"/>
              </a:solidFill>
              <a:prstDash val="solid"/>
              <a:round/>
            </a:ln>
          </p:spPr>
        </p:sp>
      </p:grpSp>
      <p:grpSp>
        <p:nvGrpSpPr>
          <p:cNvPr name="Group 34" id="34"/>
          <p:cNvGrpSpPr/>
          <p:nvPr/>
        </p:nvGrpSpPr>
        <p:grpSpPr>
          <a:xfrm rot="5400000">
            <a:off x="13126223" y="5885939"/>
            <a:ext cx="5072749" cy="4120359"/>
            <a:chOff x="0" y="0"/>
            <a:chExt cx="1336033" cy="108519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36033" cy="1085198"/>
            </a:xfrm>
            <a:custGeom>
              <a:avLst/>
              <a:gdLst/>
              <a:ahLst/>
              <a:cxnLst/>
              <a:rect r="r" b="b" t="t" l="l"/>
              <a:pathLst>
                <a:path h="1085198" w="1336033">
                  <a:moveTo>
                    <a:pt x="0" y="0"/>
                  </a:moveTo>
                  <a:lnTo>
                    <a:pt x="1336033" y="0"/>
                  </a:lnTo>
                  <a:lnTo>
                    <a:pt x="1336033" y="1085198"/>
                  </a:lnTo>
                  <a:lnTo>
                    <a:pt x="0" y="1085198"/>
                  </a:lnTo>
                  <a:close/>
                </a:path>
              </a:pathLst>
            </a:custGeom>
            <a:gradFill rotWithShape="true">
              <a:gsLst>
                <a:gs pos="0">
                  <a:srgbClr val="334BAE">
                    <a:alpha val="0"/>
                  </a:srgbClr>
                </a:gs>
                <a:gs pos="100000">
                  <a:srgbClr val="172975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336033" cy="1132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576719" y="5002848"/>
            <a:ext cx="4171757" cy="4069325"/>
            <a:chOff x="0" y="0"/>
            <a:chExt cx="500073" cy="48779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00073" cy="487795"/>
            </a:xfrm>
            <a:custGeom>
              <a:avLst/>
              <a:gdLst/>
              <a:ahLst/>
              <a:cxnLst/>
              <a:rect r="r" b="b" t="t" l="l"/>
              <a:pathLst>
                <a:path h="487795" w="500073">
                  <a:moveTo>
                    <a:pt x="92790" y="0"/>
                  </a:moveTo>
                  <a:lnTo>
                    <a:pt x="407284" y="0"/>
                  </a:lnTo>
                  <a:cubicBezTo>
                    <a:pt x="431893" y="0"/>
                    <a:pt x="455494" y="9776"/>
                    <a:pt x="472896" y="27177"/>
                  </a:cubicBezTo>
                  <a:cubicBezTo>
                    <a:pt x="490297" y="44579"/>
                    <a:pt x="500073" y="68180"/>
                    <a:pt x="500073" y="92790"/>
                  </a:cubicBezTo>
                  <a:lnTo>
                    <a:pt x="500073" y="395005"/>
                  </a:lnTo>
                  <a:cubicBezTo>
                    <a:pt x="500073" y="419614"/>
                    <a:pt x="490297" y="443216"/>
                    <a:pt x="472896" y="460617"/>
                  </a:cubicBezTo>
                  <a:cubicBezTo>
                    <a:pt x="455494" y="478019"/>
                    <a:pt x="431893" y="487795"/>
                    <a:pt x="407284" y="487795"/>
                  </a:cubicBezTo>
                  <a:lnTo>
                    <a:pt x="92790" y="487795"/>
                  </a:lnTo>
                  <a:cubicBezTo>
                    <a:pt x="68180" y="487795"/>
                    <a:pt x="44579" y="478019"/>
                    <a:pt x="27177" y="460617"/>
                  </a:cubicBezTo>
                  <a:cubicBezTo>
                    <a:pt x="9776" y="443216"/>
                    <a:pt x="0" y="419614"/>
                    <a:pt x="0" y="395005"/>
                  </a:cubicBezTo>
                  <a:lnTo>
                    <a:pt x="0" y="92790"/>
                  </a:lnTo>
                  <a:cubicBezTo>
                    <a:pt x="0" y="68180"/>
                    <a:pt x="9776" y="44579"/>
                    <a:pt x="27177" y="27177"/>
                  </a:cubicBezTo>
                  <a:cubicBezTo>
                    <a:pt x="44579" y="9776"/>
                    <a:pt x="68180" y="0"/>
                    <a:pt x="92790" y="0"/>
                  </a:cubicBezTo>
                  <a:close/>
                </a:path>
              </a:pathLst>
            </a:custGeom>
            <a:blipFill>
              <a:blip r:embed="rId13"/>
              <a:stretch>
                <a:fillRect l="-19225" t="0" r="-19225" b="0"/>
              </a:stretch>
            </a:blipFill>
            <a:ln w="95250" cap="rnd">
              <a:solidFill>
                <a:srgbClr val="A1B1F7"/>
              </a:solidFill>
              <a:prstDash val="solid"/>
              <a:round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1028700" y="1751168"/>
            <a:ext cx="4403417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Important insights: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59688" y="3415030"/>
            <a:ext cx="3056087" cy="1090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0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Sales distribution is right-skewed (few </a:t>
            </a:r>
            <a:r>
              <a:rPr lang="en-US" sz="20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very high sales)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060046" y="3411515"/>
            <a:ext cx="3056087" cy="1090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0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Profit has outliers (both high profit &amp; high loss</a:t>
            </a:r>
            <a:r>
              <a:rPr lang="en-US" sz="20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</a:p>
          <a:p>
            <a:pPr algn="l">
              <a:lnSpc>
                <a:spcPts val="2879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10197208" y="3471532"/>
            <a:ext cx="3056087" cy="728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0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Discount has repeated values (0.0, 0.2, 0.8</a:t>
            </a:r>
            <a:r>
              <a:rPr lang="en-US" sz="20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464693" y="3448771"/>
            <a:ext cx="3056087" cy="728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0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Quantity is mostly b</a:t>
            </a:r>
            <a:r>
              <a:rPr lang="en-US" sz="20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elow 10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75375" y="3002020"/>
            <a:ext cx="9445265" cy="5187509"/>
            <a:chOff x="0" y="0"/>
            <a:chExt cx="2487642" cy="13662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87642" cy="1366257"/>
            </a:xfrm>
            <a:custGeom>
              <a:avLst/>
              <a:gdLst/>
              <a:ahLst/>
              <a:cxnLst/>
              <a:rect r="r" b="b" t="t" l="l"/>
              <a:pathLst>
                <a:path h="1366257" w="2487642">
                  <a:moveTo>
                    <a:pt x="41803" y="0"/>
                  </a:moveTo>
                  <a:lnTo>
                    <a:pt x="2445839" y="0"/>
                  </a:lnTo>
                  <a:cubicBezTo>
                    <a:pt x="2456926" y="0"/>
                    <a:pt x="2467558" y="4404"/>
                    <a:pt x="2475398" y="12244"/>
                  </a:cubicBezTo>
                  <a:cubicBezTo>
                    <a:pt x="2483238" y="20083"/>
                    <a:pt x="2487642" y="30716"/>
                    <a:pt x="2487642" y="41803"/>
                  </a:cubicBezTo>
                  <a:lnTo>
                    <a:pt x="2487642" y="1324455"/>
                  </a:lnTo>
                  <a:cubicBezTo>
                    <a:pt x="2487642" y="1335542"/>
                    <a:pt x="2483238" y="1346174"/>
                    <a:pt x="2475398" y="1354014"/>
                  </a:cubicBezTo>
                  <a:cubicBezTo>
                    <a:pt x="2467558" y="1361853"/>
                    <a:pt x="2456926" y="1366257"/>
                    <a:pt x="2445839" y="1366257"/>
                  </a:cubicBezTo>
                  <a:lnTo>
                    <a:pt x="41803" y="1366257"/>
                  </a:lnTo>
                  <a:cubicBezTo>
                    <a:pt x="30716" y="1366257"/>
                    <a:pt x="20083" y="1361853"/>
                    <a:pt x="12244" y="1354014"/>
                  </a:cubicBezTo>
                  <a:cubicBezTo>
                    <a:pt x="4404" y="1346174"/>
                    <a:pt x="0" y="1335542"/>
                    <a:pt x="0" y="1324455"/>
                  </a:cubicBezTo>
                  <a:lnTo>
                    <a:pt x="0" y="41803"/>
                  </a:lnTo>
                  <a:cubicBezTo>
                    <a:pt x="0" y="30716"/>
                    <a:pt x="4404" y="20083"/>
                    <a:pt x="12244" y="12244"/>
                  </a:cubicBezTo>
                  <a:cubicBezTo>
                    <a:pt x="20083" y="4404"/>
                    <a:pt x="30716" y="0"/>
                    <a:pt x="41803" y="0"/>
                  </a:cubicBezTo>
                  <a:close/>
                </a:path>
              </a:pathLst>
            </a:custGeom>
            <a:solidFill>
              <a:srgbClr val="13538A">
                <a:alpha val="4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487642" cy="1432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9752959">
            <a:off x="13337974" y="5671232"/>
            <a:ext cx="8324419" cy="7174136"/>
          </a:xfrm>
          <a:custGeom>
            <a:avLst/>
            <a:gdLst/>
            <a:ahLst/>
            <a:cxnLst/>
            <a:rect r="r" b="b" t="t" l="l"/>
            <a:pathLst>
              <a:path h="7174136" w="8324419">
                <a:moveTo>
                  <a:pt x="0" y="0"/>
                </a:moveTo>
                <a:lnTo>
                  <a:pt x="8324419" y="0"/>
                </a:lnTo>
                <a:lnTo>
                  <a:pt x="8324419" y="7174136"/>
                </a:lnTo>
                <a:lnTo>
                  <a:pt x="0" y="71741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3481" y="3623508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0"/>
                </a:lnTo>
                <a:lnTo>
                  <a:pt x="0" y="3667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8350144">
            <a:off x="-1042352" y="-6073147"/>
            <a:ext cx="9849240" cy="8488254"/>
          </a:xfrm>
          <a:custGeom>
            <a:avLst/>
            <a:gdLst/>
            <a:ahLst/>
            <a:cxnLst/>
            <a:rect r="r" b="b" t="t" l="l"/>
            <a:pathLst>
              <a:path h="8488254" w="9849240">
                <a:moveTo>
                  <a:pt x="0" y="0"/>
                </a:moveTo>
                <a:lnTo>
                  <a:pt x="9849240" y="0"/>
                </a:lnTo>
                <a:lnTo>
                  <a:pt x="9849240" y="8488254"/>
                </a:lnTo>
                <a:lnTo>
                  <a:pt x="0" y="8488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505044" y="406108"/>
            <a:ext cx="7025593" cy="2595912"/>
            <a:chOff x="0" y="0"/>
            <a:chExt cx="1850362" cy="6836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50362" cy="683697"/>
            </a:xfrm>
            <a:custGeom>
              <a:avLst/>
              <a:gdLst/>
              <a:ahLst/>
              <a:cxnLst/>
              <a:rect r="r" b="b" t="t" l="l"/>
              <a:pathLst>
                <a:path h="683697" w="1850362">
                  <a:moveTo>
                    <a:pt x="0" y="0"/>
                  </a:moveTo>
                  <a:lnTo>
                    <a:pt x="1850362" y="0"/>
                  </a:lnTo>
                  <a:lnTo>
                    <a:pt x="1850362" y="683697"/>
                  </a:lnTo>
                  <a:lnTo>
                    <a:pt x="0" y="683697"/>
                  </a:lnTo>
                  <a:close/>
                </a:path>
              </a:pathLst>
            </a:custGeom>
            <a:solidFill>
              <a:srgbClr val="334BA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850362" cy="750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13481" y="6831160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1"/>
                </a:lnTo>
                <a:lnTo>
                  <a:pt x="0" y="3667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607629" y="3461885"/>
            <a:ext cx="9481006" cy="4035049"/>
          </a:xfrm>
          <a:custGeom>
            <a:avLst/>
            <a:gdLst/>
            <a:ahLst/>
            <a:cxnLst/>
            <a:rect r="r" b="b" t="t" l="l"/>
            <a:pathLst>
              <a:path h="4035049" w="9481006">
                <a:moveTo>
                  <a:pt x="0" y="0"/>
                </a:moveTo>
                <a:lnTo>
                  <a:pt x="9481006" y="0"/>
                </a:lnTo>
                <a:lnTo>
                  <a:pt x="9481006" y="4035049"/>
                </a:lnTo>
                <a:lnTo>
                  <a:pt x="0" y="40350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380" t="0" r="-238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59843" y="3372720"/>
            <a:ext cx="6847787" cy="3884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334BAE"/>
                </a:solidFill>
                <a:latin typeface="Poppins Bold"/>
                <a:ea typeface="Poppins Bold"/>
                <a:cs typeface="Poppins Bold"/>
                <a:sym typeface="Poppins Bold"/>
              </a:rPr>
              <a:t>Extracted Features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OrderYear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OrderMonth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ShippingDelay = Ship Date – Order Date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Dropped non-essential columns: Row ID, Order ID, Customer ID, Product ID…</a:t>
            </a:r>
          </a:p>
          <a:p>
            <a:pPr algn="l">
              <a:lnSpc>
                <a:spcPts val="3242"/>
              </a:lnSpc>
            </a:pPr>
          </a:p>
          <a:p>
            <a:pPr algn="l">
              <a:lnSpc>
                <a:spcPts val="2151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113481" y="777313"/>
            <a:ext cx="6658648" cy="302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Feature Engineering</a:t>
            </a:r>
          </a:p>
          <a:p>
            <a:pPr algn="l">
              <a:lnSpc>
                <a:spcPts val="748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759843" y="6556503"/>
            <a:ext cx="7212936" cy="3036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334BAE"/>
                </a:solidFill>
                <a:latin typeface="Poppins Bold"/>
                <a:ea typeface="Poppins Bold"/>
                <a:cs typeface="Poppins Bold"/>
                <a:sym typeface="Poppins Bold"/>
              </a:rPr>
              <a:t>Why these features matt</a:t>
            </a:r>
            <a:r>
              <a:rPr lang="en-US" sz="3099" b="true">
                <a:solidFill>
                  <a:srgbClr val="334BAE"/>
                </a:solidFill>
                <a:latin typeface="Poppins Bold"/>
                <a:ea typeface="Poppins Bold"/>
                <a:cs typeface="Poppins Bold"/>
                <a:sym typeface="Poppins Bold"/>
              </a:rPr>
              <a:t>er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Year &amp; Month capture seasonality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Shipping delay correlates with operational cost &amp; satisfaction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Removing irrelevant columns prevents noise</a:t>
            </a:r>
          </a:p>
          <a:p>
            <a:pPr algn="l">
              <a:lnSpc>
                <a:spcPts val="2151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2644">
            <a:off x="10252883" y="6140234"/>
            <a:ext cx="9424448" cy="6236131"/>
          </a:xfrm>
          <a:custGeom>
            <a:avLst/>
            <a:gdLst/>
            <a:ahLst/>
            <a:cxnLst/>
            <a:rect r="r" b="b" t="t" l="l"/>
            <a:pathLst>
              <a:path h="6236131" w="9424448">
                <a:moveTo>
                  <a:pt x="0" y="0"/>
                </a:moveTo>
                <a:lnTo>
                  <a:pt x="9424448" y="0"/>
                </a:lnTo>
                <a:lnTo>
                  <a:pt x="9424448" y="6236132"/>
                </a:lnTo>
                <a:lnTo>
                  <a:pt x="0" y="62361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273330">
            <a:off x="11597689" y="-1791088"/>
            <a:ext cx="8300686" cy="8300686"/>
          </a:xfrm>
          <a:custGeom>
            <a:avLst/>
            <a:gdLst/>
            <a:ahLst/>
            <a:cxnLst/>
            <a:rect r="r" b="b" t="t" l="l"/>
            <a:pathLst>
              <a:path h="8300686" w="8300686">
                <a:moveTo>
                  <a:pt x="0" y="0"/>
                </a:moveTo>
                <a:lnTo>
                  <a:pt x="8300686" y="0"/>
                </a:lnTo>
                <a:lnTo>
                  <a:pt x="8300686" y="8300686"/>
                </a:lnTo>
                <a:lnTo>
                  <a:pt x="0" y="8300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455153" y="1660185"/>
            <a:ext cx="7909568" cy="7909568"/>
          </a:xfrm>
          <a:custGeom>
            <a:avLst/>
            <a:gdLst/>
            <a:ahLst/>
            <a:cxnLst/>
            <a:rect r="r" b="b" t="t" l="l"/>
            <a:pathLst>
              <a:path h="7909568" w="7909568">
                <a:moveTo>
                  <a:pt x="0" y="0"/>
                </a:moveTo>
                <a:lnTo>
                  <a:pt x="7909568" y="0"/>
                </a:lnTo>
                <a:lnTo>
                  <a:pt x="7909568" y="7909568"/>
                </a:lnTo>
                <a:lnTo>
                  <a:pt x="0" y="79095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515436" y="1757782"/>
            <a:ext cx="10400671" cy="4208932"/>
            <a:chOff x="0" y="0"/>
            <a:chExt cx="1781841" cy="7210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81841" cy="721074"/>
            </a:xfrm>
            <a:custGeom>
              <a:avLst/>
              <a:gdLst/>
              <a:ahLst/>
              <a:cxnLst/>
              <a:rect r="r" b="b" t="t" l="l"/>
              <a:pathLst>
                <a:path h="721074" w="1781841">
                  <a:moveTo>
                    <a:pt x="22331" y="0"/>
                  </a:moveTo>
                  <a:lnTo>
                    <a:pt x="1759510" y="0"/>
                  </a:lnTo>
                  <a:cubicBezTo>
                    <a:pt x="1765433" y="0"/>
                    <a:pt x="1771113" y="2353"/>
                    <a:pt x="1775301" y="6541"/>
                  </a:cubicBezTo>
                  <a:cubicBezTo>
                    <a:pt x="1779488" y="10728"/>
                    <a:pt x="1781841" y="16408"/>
                    <a:pt x="1781841" y="22331"/>
                  </a:cubicBezTo>
                  <a:lnTo>
                    <a:pt x="1781841" y="698743"/>
                  </a:lnTo>
                  <a:cubicBezTo>
                    <a:pt x="1781841" y="704665"/>
                    <a:pt x="1779488" y="710345"/>
                    <a:pt x="1775301" y="714533"/>
                  </a:cubicBezTo>
                  <a:cubicBezTo>
                    <a:pt x="1771113" y="718721"/>
                    <a:pt x="1765433" y="721074"/>
                    <a:pt x="1759510" y="721074"/>
                  </a:cubicBezTo>
                  <a:lnTo>
                    <a:pt x="22331" y="721074"/>
                  </a:lnTo>
                  <a:cubicBezTo>
                    <a:pt x="16408" y="721074"/>
                    <a:pt x="10728" y="718721"/>
                    <a:pt x="6541" y="714533"/>
                  </a:cubicBezTo>
                  <a:cubicBezTo>
                    <a:pt x="2353" y="710345"/>
                    <a:pt x="0" y="704665"/>
                    <a:pt x="0" y="698743"/>
                  </a:cubicBezTo>
                  <a:lnTo>
                    <a:pt x="0" y="22331"/>
                  </a:lnTo>
                  <a:cubicBezTo>
                    <a:pt x="0" y="16408"/>
                    <a:pt x="2353" y="10728"/>
                    <a:pt x="6541" y="6541"/>
                  </a:cubicBezTo>
                  <a:cubicBezTo>
                    <a:pt x="10728" y="2353"/>
                    <a:pt x="16408" y="0"/>
                    <a:pt x="22331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178" r="0" b="-178"/>
              </a:stretch>
            </a:blipFill>
            <a:ln w="95250" cap="rnd">
              <a:gradFill>
                <a:gsLst>
                  <a:gs pos="0">
                    <a:srgbClr val="334BAE">
                      <a:alpha val="100000"/>
                    </a:srgbClr>
                  </a:gs>
                  <a:gs pos="100000">
                    <a:srgbClr val="A1B1F7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917603" y="6498309"/>
            <a:ext cx="5597833" cy="375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21358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Why</a:t>
            </a:r>
            <a:r>
              <a:rPr lang="en-US" b="true" sz="3200">
                <a:solidFill>
                  <a:srgbClr val="21358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Label Encoding?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1358A"/>
                </a:solidFill>
                <a:latin typeface="Poppins"/>
                <a:ea typeface="Poppins"/>
                <a:cs typeface="Poppins"/>
                <a:sym typeface="Poppins"/>
              </a:rPr>
              <a:t>Tree-based models prefer integer categorical labels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1358A"/>
                </a:solidFill>
                <a:latin typeface="Poppins"/>
                <a:ea typeface="Poppins"/>
                <a:cs typeface="Poppins"/>
                <a:sym typeface="Poppins"/>
              </a:rPr>
              <a:t>Ensures consistent representation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1358A"/>
                </a:solidFill>
                <a:latin typeface="Poppins"/>
                <a:ea typeface="Poppins"/>
                <a:cs typeface="Poppins"/>
                <a:sym typeface="Poppins"/>
              </a:rPr>
              <a:t>Saves encoder dictionary for deployment</a:t>
            </a: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28877" y="6552907"/>
            <a:ext cx="716341" cy="716341"/>
          </a:xfrm>
          <a:custGeom>
            <a:avLst/>
            <a:gdLst/>
            <a:ahLst/>
            <a:cxnLst/>
            <a:rect r="r" b="b" t="t" l="l"/>
            <a:pathLst>
              <a:path h="716341" w="716341">
                <a:moveTo>
                  <a:pt x="0" y="0"/>
                </a:moveTo>
                <a:lnTo>
                  <a:pt x="716341" y="0"/>
                </a:lnTo>
                <a:lnTo>
                  <a:pt x="716341" y="716341"/>
                </a:lnTo>
                <a:lnTo>
                  <a:pt x="0" y="71634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07387" y="3005062"/>
            <a:ext cx="716341" cy="716341"/>
          </a:xfrm>
          <a:custGeom>
            <a:avLst/>
            <a:gdLst/>
            <a:ahLst/>
            <a:cxnLst/>
            <a:rect r="r" b="b" t="t" l="l"/>
            <a:pathLst>
              <a:path h="716341" w="716341">
                <a:moveTo>
                  <a:pt x="0" y="0"/>
                </a:moveTo>
                <a:lnTo>
                  <a:pt x="716341" y="0"/>
                </a:lnTo>
                <a:lnTo>
                  <a:pt x="716341" y="716341"/>
                </a:lnTo>
                <a:lnTo>
                  <a:pt x="0" y="71634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400285" y="-2057400"/>
            <a:ext cx="6003024" cy="4114800"/>
          </a:xfrm>
          <a:custGeom>
            <a:avLst/>
            <a:gdLst/>
            <a:ahLst/>
            <a:cxnLst/>
            <a:rect r="r" b="b" t="t" l="l"/>
            <a:pathLst>
              <a:path h="4114800" w="6003024">
                <a:moveTo>
                  <a:pt x="0" y="0"/>
                </a:moveTo>
                <a:lnTo>
                  <a:pt x="6003024" y="0"/>
                </a:lnTo>
                <a:lnTo>
                  <a:pt x="60030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2700000">
            <a:off x="-717018" y="-337368"/>
            <a:ext cx="1434036" cy="1512936"/>
            <a:chOff x="0" y="0"/>
            <a:chExt cx="377689" cy="3984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7689" cy="398469"/>
            </a:xfrm>
            <a:custGeom>
              <a:avLst/>
              <a:gdLst/>
              <a:ahLst/>
              <a:cxnLst/>
              <a:rect r="r" b="b" t="t" l="l"/>
              <a:pathLst>
                <a:path h="398469" w="377689">
                  <a:moveTo>
                    <a:pt x="0" y="0"/>
                  </a:moveTo>
                  <a:lnTo>
                    <a:pt x="377689" y="0"/>
                  </a:lnTo>
                  <a:lnTo>
                    <a:pt x="377689" y="398469"/>
                  </a:lnTo>
                  <a:lnTo>
                    <a:pt x="0" y="398469"/>
                  </a:lnTo>
                  <a:close/>
                </a:path>
              </a:pathLst>
            </a:custGeom>
            <a:solidFill>
              <a:srgbClr val="334BA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377689" cy="465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2700000">
            <a:off x="2006223" y="-1379280"/>
            <a:ext cx="1434036" cy="1512936"/>
            <a:chOff x="0" y="0"/>
            <a:chExt cx="377689" cy="3984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77689" cy="398469"/>
            </a:xfrm>
            <a:custGeom>
              <a:avLst/>
              <a:gdLst/>
              <a:ahLst/>
              <a:cxnLst/>
              <a:rect r="r" b="b" t="t" l="l"/>
              <a:pathLst>
                <a:path h="398469" w="377689">
                  <a:moveTo>
                    <a:pt x="0" y="0"/>
                  </a:moveTo>
                  <a:lnTo>
                    <a:pt x="377689" y="0"/>
                  </a:lnTo>
                  <a:lnTo>
                    <a:pt x="377689" y="398469"/>
                  </a:lnTo>
                  <a:lnTo>
                    <a:pt x="0" y="398469"/>
                  </a:lnTo>
                  <a:close/>
                </a:path>
              </a:pathLst>
            </a:custGeom>
            <a:solidFill>
              <a:srgbClr val="334BA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377689" cy="465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055947" y="7567628"/>
            <a:ext cx="2653663" cy="2923564"/>
            <a:chOff x="0" y="0"/>
            <a:chExt cx="698907" cy="7699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8907" cy="769992"/>
            </a:xfrm>
            <a:custGeom>
              <a:avLst/>
              <a:gdLst/>
              <a:ahLst/>
              <a:cxnLst/>
              <a:rect r="r" b="b" t="t" l="l"/>
              <a:pathLst>
                <a:path h="769992" w="698907">
                  <a:moveTo>
                    <a:pt x="0" y="0"/>
                  </a:moveTo>
                  <a:lnTo>
                    <a:pt x="698907" y="0"/>
                  </a:lnTo>
                  <a:lnTo>
                    <a:pt x="698907" y="769992"/>
                  </a:lnTo>
                  <a:lnTo>
                    <a:pt x="0" y="769992"/>
                  </a:lnTo>
                  <a:close/>
                </a:path>
              </a:pathLst>
            </a:custGeom>
            <a:solidFill>
              <a:srgbClr val="334BA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698907" cy="836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10033926">
            <a:off x="-3932056" y="6864816"/>
            <a:ext cx="8777370" cy="5807962"/>
          </a:xfrm>
          <a:custGeom>
            <a:avLst/>
            <a:gdLst/>
            <a:ahLst/>
            <a:cxnLst/>
            <a:rect r="r" b="b" t="t" l="l"/>
            <a:pathLst>
              <a:path h="5807962" w="8777370">
                <a:moveTo>
                  <a:pt x="0" y="0"/>
                </a:moveTo>
                <a:lnTo>
                  <a:pt x="8777370" y="0"/>
                </a:lnTo>
                <a:lnTo>
                  <a:pt x="8777370" y="5807962"/>
                </a:lnTo>
                <a:lnTo>
                  <a:pt x="0" y="5807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305052" y="7925798"/>
            <a:ext cx="442980" cy="442980"/>
          </a:xfrm>
          <a:custGeom>
            <a:avLst/>
            <a:gdLst/>
            <a:ahLst/>
            <a:cxnLst/>
            <a:rect r="r" b="b" t="t" l="l"/>
            <a:pathLst>
              <a:path h="442980" w="442980">
                <a:moveTo>
                  <a:pt x="0" y="0"/>
                </a:moveTo>
                <a:lnTo>
                  <a:pt x="442980" y="0"/>
                </a:lnTo>
                <a:lnTo>
                  <a:pt x="442980" y="442980"/>
                </a:lnTo>
                <a:lnTo>
                  <a:pt x="0" y="44298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995627" y="1037500"/>
            <a:ext cx="442980" cy="442980"/>
          </a:xfrm>
          <a:custGeom>
            <a:avLst/>
            <a:gdLst/>
            <a:ahLst/>
            <a:cxnLst/>
            <a:rect r="r" b="b" t="t" l="l"/>
            <a:pathLst>
              <a:path h="442980" w="442980">
                <a:moveTo>
                  <a:pt x="0" y="0"/>
                </a:moveTo>
                <a:lnTo>
                  <a:pt x="442980" y="0"/>
                </a:lnTo>
                <a:lnTo>
                  <a:pt x="442980" y="442980"/>
                </a:lnTo>
                <a:lnTo>
                  <a:pt x="0" y="44298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7883215" y="6205838"/>
            <a:ext cx="6571938" cy="20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21358A"/>
                </a:solidFill>
                <a:latin typeface="Agrandir Bold"/>
                <a:ea typeface="Agrandir Bold"/>
                <a:cs typeface="Agrandir Bold"/>
                <a:sym typeface="Agrandir Bold"/>
              </a:rPr>
              <a:t>Categorical Encoding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96113" y="2950464"/>
            <a:ext cx="5819323" cy="239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1358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Encoded </a:t>
            </a:r>
            <a:r>
              <a:rPr lang="en-US" b="true" sz="3000">
                <a:solidFill>
                  <a:srgbClr val="21358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the following columns using LabelEncoder: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1358A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en-US" sz="2499">
                <a:solidFill>
                  <a:srgbClr val="21358A"/>
                </a:solidFill>
                <a:latin typeface="Poppins"/>
                <a:ea typeface="Poppins"/>
                <a:cs typeface="Poppins"/>
                <a:sym typeface="Poppins"/>
              </a:rPr>
              <a:t>Ship Mode, Segment, Region, Category  , Sub-Category, Product Name, City, State)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75375" y="3002020"/>
            <a:ext cx="9445265" cy="5187509"/>
            <a:chOff x="0" y="0"/>
            <a:chExt cx="2487642" cy="13662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87642" cy="1366257"/>
            </a:xfrm>
            <a:custGeom>
              <a:avLst/>
              <a:gdLst/>
              <a:ahLst/>
              <a:cxnLst/>
              <a:rect r="r" b="b" t="t" l="l"/>
              <a:pathLst>
                <a:path h="1366257" w="2487642">
                  <a:moveTo>
                    <a:pt x="41803" y="0"/>
                  </a:moveTo>
                  <a:lnTo>
                    <a:pt x="2445839" y="0"/>
                  </a:lnTo>
                  <a:cubicBezTo>
                    <a:pt x="2456926" y="0"/>
                    <a:pt x="2467558" y="4404"/>
                    <a:pt x="2475398" y="12244"/>
                  </a:cubicBezTo>
                  <a:cubicBezTo>
                    <a:pt x="2483238" y="20083"/>
                    <a:pt x="2487642" y="30716"/>
                    <a:pt x="2487642" y="41803"/>
                  </a:cubicBezTo>
                  <a:lnTo>
                    <a:pt x="2487642" y="1324455"/>
                  </a:lnTo>
                  <a:cubicBezTo>
                    <a:pt x="2487642" y="1335542"/>
                    <a:pt x="2483238" y="1346174"/>
                    <a:pt x="2475398" y="1354014"/>
                  </a:cubicBezTo>
                  <a:cubicBezTo>
                    <a:pt x="2467558" y="1361853"/>
                    <a:pt x="2456926" y="1366257"/>
                    <a:pt x="2445839" y="1366257"/>
                  </a:cubicBezTo>
                  <a:lnTo>
                    <a:pt x="41803" y="1366257"/>
                  </a:lnTo>
                  <a:cubicBezTo>
                    <a:pt x="30716" y="1366257"/>
                    <a:pt x="20083" y="1361853"/>
                    <a:pt x="12244" y="1354014"/>
                  </a:cubicBezTo>
                  <a:cubicBezTo>
                    <a:pt x="4404" y="1346174"/>
                    <a:pt x="0" y="1335542"/>
                    <a:pt x="0" y="1324455"/>
                  </a:cubicBezTo>
                  <a:lnTo>
                    <a:pt x="0" y="41803"/>
                  </a:lnTo>
                  <a:cubicBezTo>
                    <a:pt x="0" y="30716"/>
                    <a:pt x="4404" y="20083"/>
                    <a:pt x="12244" y="12244"/>
                  </a:cubicBezTo>
                  <a:cubicBezTo>
                    <a:pt x="20083" y="4404"/>
                    <a:pt x="30716" y="0"/>
                    <a:pt x="41803" y="0"/>
                  </a:cubicBezTo>
                  <a:close/>
                </a:path>
              </a:pathLst>
            </a:custGeom>
            <a:solidFill>
              <a:srgbClr val="13538A">
                <a:alpha val="4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487642" cy="1432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13481" y="3623508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0"/>
                </a:lnTo>
                <a:lnTo>
                  <a:pt x="0" y="366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350144">
            <a:off x="12334680" y="-1416972"/>
            <a:ext cx="9849240" cy="8488254"/>
          </a:xfrm>
          <a:custGeom>
            <a:avLst/>
            <a:gdLst/>
            <a:ahLst/>
            <a:cxnLst/>
            <a:rect r="r" b="b" t="t" l="l"/>
            <a:pathLst>
              <a:path h="8488254" w="9849240">
                <a:moveTo>
                  <a:pt x="0" y="0"/>
                </a:moveTo>
                <a:lnTo>
                  <a:pt x="9849240" y="0"/>
                </a:lnTo>
                <a:lnTo>
                  <a:pt x="9849240" y="8488253"/>
                </a:lnTo>
                <a:lnTo>
                  <a:pt x="0" y="848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548449" y="433908"/>
            <a:ext cx="7025593" cy="2595912"/>
            <a:chOff x="0" y="0"/>
            <a:chExt cx="1850362" cy="6836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50362" cy="683697"/>
            </a:xfrm>
            <a:custGeom>
              <a:avLst/>
              <a:gdLst/>
              <a:ahLst/>
              <a:cxnLst/>
              <a:rect r="r" b="b" t="t" l="l"/>
              <a:pathLst>
                <a:path h="683697" w="1850362">
                  <a:moveTo>
                    <a:pt x="0" y="0"/>
                  </a:moveTo>
                  <a:lnTo>
                    <a:pt x="1850362" y="0"/>
                  </a:lnTo>
                  <a:lnTo>
                    <a:pt x="1850362" y="683697"/>
                  </a:lnTo>
                  <a:lnTo>
                    <a:pt x="0" y="683697"/>
                  </a:lnTo>
                  <a:close/>
                </a:path>
              </a:pathLst>
            </a:custGeom>
            <a:solidFill>
              <a:srgbClr val="334BA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850362" cy="750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13481" y="6831160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1"/>
                </a:lnTo>
                <a:lnTo>
                  <a:pt x="0" y="3667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883854" y="3486295"/>
            <a:ext cx="9221768" cy="4218959"/>
          </a:xfrm>
          <a:custGeom>
            <a:avLst/>
            <a:gdLst/>
            <a:ahLst/>
            <a:cxnLst/>
            <a:rect r="r" b="b" t="t" l="l"/>
            <a:pathLst>
              <a:path h="4218959" w="9221768">
                <a:moveTo>
                  <a:pt x="0" y="0"/>
                </a:moveTo>
                <a:lnTo>
                  <a:pt x="9221769" y="0"/>
                </a:lnTo>
                <a:lnTo>
                  <a:pt x="9221769" y="4218959"/>
                </a:lnTo>
                <a:lnTo>
                  <a:pt x="0" y="42189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59843" y="3372720"/>
            <a:ext cx="6847787" cy="3017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334BAE"/>
                </a:solidFill>
                <a:latin typeface="Poppins Bold"/>
                <a:ea typeface="Poppins Bold"/>
                <a:cs typeface="Poppins Bold"/>
                <a:sym typeface="Poppins Bold"/>
              </a:rPr>
              <a:t>Using Qu</a:t>
            </a:r>
            <a:r>
              <a:rPr lang="en-US" sz="3099" b="true">
                <a:solidFill>
                  <a:srgbClr val="334BAE"/>
                </a:solidFill>
                <a:latin typeface="Poppins Bold"/>
                <a:ea typeface="Poppins Bold"/>
                <a:cs typeface="Poppins Bold"/>
                <a:sym typeface="Poppins Bold"/>
              </a:rPr>
              <a:t>antile Clipping (1% to 99%)</a:t>
            </a:r>
          </a:p>
          <a:p>
            <a:pPr algn="l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Profit → Profit_clipped</a:t>
            </a:r>
          </a:p>
          <a:p>
            <a:pPr algn="l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Sales → Sales_clipped</a:t>
            </a:r>
          </a:p>
          <a:p>
            <a:pPr algn="l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Quantity → Quantity_clipped</a:t>
            </a:r>
          </a:p>
          <a:p>
            <a:pPr algn="l">
              <a:lnSpc>
                <a:spcPts val="2151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113481" y="777313"/>
            <a:ext cx="6658648" cy="20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Outlier Handling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59843" y="6556503"/>
            <a:ext cx="7212936" cy="356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334BAE"/>
                </a:solidFill>
                <a:latin typeface="Poppins Bold"/>
                <a:ea typeface="Poppins Bold"/>
                <a:cs typeface="Poppins Bold"/>
                <a:sym typeface="Poppins Bold"/>
              </a:rPr>
              <a:t>Why Clipping?</a:t>
            </a:r>
          </a:p>
          <a:p>
            <a:pPr algn="l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Reduces </a:t>
            </a:r>
            <a:r>
              <a:rPr lang="en-US" sz="3099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effect of extreme outliers</a:t>
            </a:r>
          </a:p>
          <a:p>
            <a:pPr algn="l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Improves model stability</a:t>
            </a:r>
          </a:p>
          <a:p>
            <a:pPr algn="l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Avoids bias caused by rare values</a:t>
            </a:r>
          </a:p>
          <a:p>
            <a:pPr algn="l">
              <a:lnSpc>
                <a:spcPts val="2151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75375" y="2350941"/>
            <a:ext cx="9445265" cy="6467965"/>
            <a:chOff x="0" y="0"/>
            <a:chExt cx="2487642" cy="17034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87642" cy="1703497"/>
            </a:xfrm>
            <a:custGeom>
              <a:avLst/>
              <a:gdLst/>
              <a:ahLst/>
              <a:cxnLst/>
              <a:rect r="r" b="b" t="t" l="l"/>
              <a:pathLst>
                <a:path h="1703497" w="2487642">
                  <a:moveTo>
                    <a:pt x="41803" y="0"/>
                  </a:moveTo>
                  <a:lnTo>
                    <a:pt x="2445839" y="0"/>
                  </a:lnTo>
                  <a:cubicBezTo>
                    <a:pt x="2456926" y="0"/>
                    <a:pt x="2467558" y="4404"/>
                    <a:pt x="2475398" y="12244"/>
                  </a:cubicBezTo>
                  <a:cubicBezTo>
                    <a:pt x="2483238" y="20083"/>
                    <a:pt x="2487642" y="30716"/>
                    <a:pt x="2487642" y="41803"/>
                  </a:cubicBezTo>
                  <a:lnTo>
                    <a:pt x="2487642" y="1661694"/>
                  </a:lnTo>
                  <a:cubicBezTo>
                    <a:pt x="2487642" y="1672781"/>
                    <a:pt x="2483238" y="1683414"/>
                    <a:pt x="2475398" y="1691253"/>
                  </a:cubicBezTo>
                  <a:cubicBezTo>
                    <a:pt x="2467558" y="1699093"/>
                    <a:pt x="2456926" y="1703497"/>
                    <a:pt x="2445839" y="1703497"/>
                  </a:cubicBezTo>
                  <a:lnTo>
                    <a:pt x="41803" y="1703497"/>
                  </a:lnTo>
                  <a:cubicBezTo>
                    <a:pt x="30716" y="1703497"/>
                    <a:pt x="20083" y="1699093"/>
                    <a:pt x="12244" y="1691253"/>
                  </a:cubicBezTo>
                  <a:cubicBezTo>
                    <a:pt x="4404" y="1683414"/>
                    <a:pt x="0" y="1672781"/>
                    <a:pt x="0" y="1661694"/>
                  </a:cubicBezTo>
                  <a:lnTo>
                    <a:pt x="0" y="41803"/>
                  </a:lnTo>
                  <a:cubicBezTo>
                    <a:pt x="0" y="30716"/>
                    <a:pt x="4404" y="20083"/>
                    <a:pt x="12244" y="12244"/>
                  </a:cubicBezTo>
                  <a:cubicBezTo>
                    <a:pt x="20083" y="4404"/>
                    <a:pt x="30716" y="0"/>
                    <a:pt x="41803" y="0"/>
                  </a:cubicBezTo>
                  <a:close/>
                </a:path>
              </a:pathLst>
            </a:custGeom>
            <a:solidFill>
              <a:srgbClr val="13538A">
                <a:alpha val="4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487642" cy="1770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9752959">
            <a:off x="-5475702" y="3590235"/>
            <a:ext cx="8324419" cy="7174136"/>
          </a:xfrm>
          <a:custGeom>
            <a:avLst/>
            <a:gdLst/>
            <a:ahLst/>
            <a:cxnLst/>
            <a:rect r="r" b="b" t="t" l="l"/>
            <a:pathLst>
              <a:path h="7174136" w="8324419">
                <a:moveTo>
                  <a:pt x="0" y="0"/>
                </a:moveTo>
                <a:lnTo>
                  <a:pt x="8324420" y="0"/>
                </a:lnTo>
                <a:lnTo>
                  <a:pt x="8324420" y="7174136"/>
                </a:lnTo>
                <a:lnTo>
                  <a:pt x="0" y="71741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3481" y="3623508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0"/>
                </a:lnTo>
                <a:lnTo>
                  <a:pt x="0" y="3667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8350144">
            <a:off x="1381965" y="-6485497"/>
            <a:ext cx="9849240" cy="8488254"/>
          </a:xfrm>
          <a:custGeom>
            <a:avLst/>
            <a:gdLst/>
            <a:ahLst/>
            <a:cxnLst/>
            <a:rect r="r" b="b" t="t" l="l"/>
            <a:pathLst>
              <a:path h="8488254" w="9849240">
                <a:moveTo>
                  <a:pt x="0" y="0"/>
                </a:moveTo>
                <a:lnTo>
                  <a:pt x="9849239" y="0"/>
                </a:lnTo>
                <a:lnTo>
                  <a:pt x="9849239" y="8488254"/>
                </a:lnTo>
                <a:lnTo>
                  <a:pt x="0" y="8488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548449" y="433908"/>
            <a:ext cx="8067319" cy="2595912"/>
            <a:chOff x="0" y="0"/>
            <a:chExt cx="2124726" cy="6836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24726" cy="683697"/>
            </a:xfrm>
            <a:custGeom>
              <a:avLst/>
              <a:gdLst/>
              <a:ahLst/>
              <a:cxnLst/>
              <a:rect r="r" b="b" t="t" l="l"/>
              <a:pathLst>
                <a:path h="683697" w="2124726">
                  <a:moveTo>
                    <a:pt x="0" y="0"/>
                  </a:moveTo>
                  <a:lnTo>
                    <a:pt x="2124726" y="0"/>
                  </a:lnTo>
                  <a:lnTo>
                    <a:pt x="2124726" y="683697"/>
                  </a:lnTo>
                  <a:lnTo>
                    <a:pt x="0" y="683697"/>
                  </a:lnTo>
                  <a:close/>
                </a:path>
              </a:pathLst>
            </a:custGeom>
            <a:solidFill>
              <a:srgbClr val="334BA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124726" cy="750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9182" y="6003058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0"/>
                </a:lnTo>
                <a:lnTo>
                  <a:pt x="0" y="3667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44806" y="2688668"/>
            <a:ext cx="7014494" cy="5814212"/>
          </a:xfrm>
          <a:custGeom>
            <a:avLst/>
            <a:gdLst/>
            <a:ahLst/>
            <a:cxnLst/>
            <a:rect r="r" b="b" t="t" l="l"/>
            <a:pathLst>
              <a:path h="5814212" w="7014494">
                <a:moveTo>
                  <a:pt x="0" y="0"/>
                </a:moveTo>
                <a:lnTo>
                  <a:pt x="7014494" y="0"/>
                </a:lnTo>
                <a:lnTo>
                  <a:pt x="7014494" y="5814212"/>
                </a:lnTo>
                <a:lnTo>
                  <a:pt x="0" y="5814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59843" y="3372720"/>
            <a:ext cx="6847787" cy="193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334BAE"/>
                </a:solidFill>
                <a:latin typeface="Poppins Bold"/>
                <a:ea typeface="Poppins Bold"/>
                <a:cs typeface="Poppins Bold"/>
                <a:sym typeface="Poppins Bold"/>
              </a:rPr>
              <a:t>Sp</a:t>
            </a:r>
            <a:r>
              <a:rPr lang="en-US" sz="3099" b="true">
                <a:solidFill>
                  <a:srgbClr val="334BAE"/>
                </a:solidFill>
                <a:latin typeface="Poppins Bold"/>
                <a:ea typeface="Poppins Bold"/>
                <a:cs typeface="Poppins Bold"/>
                <a:sym typeface="Poppins Bold"/>
              </a:rPr>
              <a:t>lit:</a:t>
            </a:r>
          </a:p>
          <a:p>
            <a:pPr algn="l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334BAE"/>
                </a:solidFill>
                <a:latin typeface="Poppins Bold"/>
                <a:ea typeface="Poppins Bold"/>
                <a:cs typeface="Poppins Bold"/>
                <a:sym typeface="Poppins Bold"/>
              </a:rPr>
              <a:t>80% training</a:t>
            </a:r>
          </a:p>
          <a:p>
            <a:pPr algn="l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334BAE"/>
                </a:solidFill>
                <a:latin typeface="Poppins Bold"/>
                <a:ea typeface="Poppins Bold"/>
                <a:cs typeface="Poppins Bold"/>
                <a:sym typeface="Poppins Bold"/>
              </a:rPr>
              <a:t>20%</a:t>
            </a:r>
            <a:r>
              <a:rPr lang="en-US" b="true" sz="3099">
                <a:solidFill>
                  <a:srgbClr val="334BAE"/>
                </a:solidFill>
                <a:latin typeface="Poppins Bold"/>
                <a:ea typeface="Poppins Bold"/>
                <a:cs typeface="Poppins Bold"/>
                <a:sym typeface="Poppins Bold"/>
              </a:rPr>
              <a:t> testing</a:t>
            </a:r>
          </a:p>
          <a:p>
            <a:pPr algn="l">
              <a:lnSpc>
                <a:spcPts val="2151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113481" y="777313"/>
            <a:ext cx="6658648" cy="20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 Splitting &amp; Scaling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75543" y="5728400"/>
            <a:ext cx="7212936" cy="356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334BAE"/>
                </a:solidFill>
                <a:latin typeface="Poppins Bold"/>
                <a:ea typeface="Poppins Bold"/>
                <a:cs typeface="Poppins Bold"/>
                <a:sym typeface="Poppins Bold"/>
              </a:rPr>
              <a:t>Scaling:</a:t>
            </a:r>
          </a:p>
          <a:p>
            <a:pPr algn="l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334BAE"/>
                </a:solidFill>
                <a:latin typeface="Poppins Bold"/>
                <a:ea typeface="Poppins Bold"/>
                <a:cs typeface="Poppins Bold"/>
                <a:sym typeface="Poppins Bold"/>
              </a:rPr>
              <a:t>SVR uses StandardScaler</a:t>
            </a:r>
          </a:p>
          <a:p>
            <a:pPr algn="l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334BAE"/>
                </a:solidFill>
                <a:latin typeface="Poppins Bold"/>
                <a:ea typeface="Poppins Bold"/>
                <a:cs typeface="Poppins Bold"/>
                <a:sym typeface="Poppins Bold"/>
              </a:rPr>
              <a:t>Neural N</a:t>
            </a:r>
            <a:r>
              <a:rPr lang="en-US" b="true" sz="3099">
                <a:solidFill>
                  <a:srgbClr val="334BAE"/>
                </a:solidFill>
                <a:latin typeface="Poppins Bold"/>
                <a:ea typeface="Poppins Bold"/>
                <a:cs typeface="Poppins Bold"/>
                <a:sym typeface="Poppins Bold"/>
              </a:rPr>
              <a:t>etwork uses separate X and y scalers</a:t>
            </a:r>
          </a:p>
          <a:p>
            <a:pPr algn="l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334BAE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b="true" sz="3099">
                <a:solidFill>
                  <a:srgbClr val="334BAE"/>
                </a:solidFill>
                <a:latin typeface="Poppins Bold"/>
                <a:ea typeface="Poppins Bold"/>
                <a:cs typeface="Poppins Bold"/>
                <a:sym typeface="Poppins Bold"/>
              </a:rPr>
              <a:t>ree models (RF &amp; DT) do not require scaling</a:t>
            </a:r>
          </a:p>
          <a:p>
            <a:pPr algn="l">
              <a:lnSpc>
                <a:spcPts val="2151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273330">
            <a:off x="14230527" y="6220756"/>
            <a:ext cx="5460105" cy="5460105"/>
          </a:xfrm>
          <a:custGeom>
            <a:avLst/>
            <a:gdLst/>
            <a:ahLst/>
            <a:cxnLst/>
            <a:rect r="r" b="b" t="t" l="l"/>
            <a:pathLst>
              <a:path h="5460105" w="5460105">
                <a:moveTo>
                  <a:pt x="0" y="0"/>
                </a:moveTo>
                <a:lnTo>
                  <a:pt x="5460104" y="0"/>
                </a:lnTo>
                <a:lnTo>
                  <a:pt x="5460104" y="5460104"/>
                </a:lnTo>
                <a:lnTo>
                  <a:pt x="0" y="5460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090741" y="2425768"/>
            <a:ext cx="6125060" cy="7568927"/>
            <a:chOff x="0" y="0"/>
            <a:chExt cx="1113370" cy="13758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13370" cy="1375826"/>
            </a:xfrm>
            <a:custGeom>
              <a:avLst/>
              <a:gdLst/>
              <a:ahLst/>
              <a:cxnLst/>
              <a:rect r="r" b="b" t="t" l="l"/>
              <a:pathLst>
                <a:path h="1375826" w="1113370">
                  <a:moveTo>
                    <a:pt x="37919" y="0"/>
                  </a:moveTo>
                  <a:lnTo>
                    <a:pt x="1075451" y="0"/>
                  </a:lnTo>
                  <a:cubicBezTo>
                    <a:pt x="1096393" y="0"/>
                    <a:pt x="1113370" y="16977"/>
                    <a:pt x="1113370" y="37919"/>
                  </a:cubicBezTo>
                  <a:lnTo>
                    <a:pt x="1113370" y="1337907"/>
                  </a:lnTo>
                  <a:cubicBezTo>
                    <a:pt x="1113370" y="1358849"/>
                    <a:pt x="1096393" y="1375826"/>
                    <a:pt x="1075451" y="1375826"/>
                  </a:cubicBezTo>
                  <a:lnTo>
                    <a:pt x="37919" y="1375826"/>
                  </a:lnTo>
                  <a:cubicBezTo>
                    <a:pt x="16977" y="1375826"/>
                    <a:pt x="0" y="1358849"/>
                    <a:pt x="0" y="1337907"/>
                  </a:cubicBezTo>
                  <a:lnTo>
                    <a:pt x="0" y="37919"/>
                  </a:lnTo>
                  <a:cubicBezTo>
                    <a:pt x="0" y="16977"/>
                    <a:pt x="16977" y="0"/>
                    <a:pt x="37919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068" r="0" b="-2068"/>
              </a:stretch>
            </a:blipFill>
            <a:ln w="95250" cap="rnd">
              <a:gradFill>
                <a:gsLst>
                  <a:gs pos="0">
                    <a:srgbClr val="334BAE">
                      <a:alpha val="100000"/>
                    </a:srgbClr>
                  </a:gs>
                  <a:gs pos="100000">
                    <a:srgbClr val="A1B1F7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</p:grpSp>
      <p:sp>
        <p:nvSpPr>
          <p:cNvPr name="Freeform 5" id="5"/>
          <p:cNvSpPr/>
          <p:nvPr/>
        </p:nvSpPr>
        <p:spPr>
          <a:xfrm flipH="true" flipV="false" rot="10463851">
            <a:off x="-5471082" y="-1741862"/>
            <a:ext cx="11217039" cy="7422284"/>
          </a:xfrm>
          <a:custGeom>
            <a:avLst/>
            <a:gdLst/>
            <a:ahLst/>
            <a:cxnLst/>
            <a:rect r="r" b="b" t="t" l="l"/>
            <a:pathLst>
              <a:path h="7422284" w="11217039">
                <a:moveTo>
                  <a:pt x="11217039" y="0"/>
                </a:moveTo>
                <a:lnTo>
                  <a:pt x="0" y="0"/>
                </a:lnTo>
                <a:lnTo>
                  <a:pt x="0" y="7422284"/>
                </a:lnTo>
                <a:lnTo>
                  <a:pt x="11217039" y="7422284"/>
                </a:lnTo>
                <a:lnTo>
                  <a:pt x="1121703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3771454" y="-651110"/>
            <a:ext cx="6003024" cy="4114800"/>
          </a:xfrm>
          <a:custGeom>
            <a:avLst/>
            <a:gdLst/>
            <a:ahLst/>
            <a:cxnLst/>
            <a:rect r="r" b="b" t="t" l="l"/>
            <a:pathLst>
              <a:path h="4114800" w="6003024">
                <a:moveTo>
                  <a:pt x="0" y="0"/>
                </a:moveTo>
                <a:lnTo>
                  <a:pt x="6003024" y="0"/>
                </a:lnTo>
                <a:lnTo>
                  <a:pt x="60030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-23737" y="8017281"/>
            <a:ext cx="5406668" cy="5406668"/>
          </a:xfrm>
          <a:custGeom>
            <a:avLst/>
            <a:gdLst/>
            <a:ahLst/>
            <a:cxnLst/>
            <a:rect r="r" b="b" t="t" l="l"/>
            <a:pathLst>
              <a:path h="5406668" w="5406668">
                <a:moveTo>
                  <a:pt x="0" y="0"/>
                </a:moveTo>
                <a:lnTo>
                  <a:pt x="5406668" y="0"/>
                </a:lnTo>
                <a:lnTo>
                  <a:pt x="5406668" y="5406668"/>
                </a:lnTo>
                <a:lnTo>
                  <a:pt x="0" y="54066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-5400000">
            <a:off x="-369508" y="9777783"/>
            <a:ext cx="1957931" cy="1218914"/>
            <a:chOff x="0" y="0"/>
            <a:chExt cx="515669" cy="3210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5669" cy="321031"/>
            </a:xfrm>
            <a:custGeom>
              <a:avLst/>
              <a:gdLst/>
              <a:ahLst/>
              <a:cxnLst/>
              <a:rect r="r" b="b" t="t" l="l"/>
              <a:pathLst>
                <a:path h="321031" w="515669">
                  <a:moveTo>
                    <a:pt x="0" y="0"/>
                  </a:moveTo>
                  <a:lnTo>
                    <a:pt x="515669" y="0"/>
                  </a:lnTo>
                  <a:lnTo>
                    <a:pt x="515669" y="321031"/>
                  </a:lnTo>
                  <a:lnTo>
                    <a:pt x="0" y="321031"/>
                  </a:lnTo>
                  <a:close/>
                </a:path>
              </a:pathLst>
            </a:custGeom>
            <a:solidFill>
              <a:srgbClr val="334BA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515669" cy="387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717247" y="208905"/>
            <a:ext cx="442980" cy="442980"/>
          </a:xfrm>
          <a:custGeom>
            <a:avLst/>
            <a:gdLst/>
            <a:ahLst/>
            <a:cxnLst/>
            <a:rect r="r" b="b" t="t" l="l"/>
            <a:pathLst>
              <a:path h="442980" w="442980">
                <a:moveTo>
                  <a:pt x="0" y="0"/>
                </a:moveTo>
                <a:lnTo>
                  <a:pt x="442980" y="0"/>
                </a:lnTo>
                <a:lnTo>
                  <a:pt x="442980" y="442980"/>
                </a:lnTo>
                <a:lnTo>
                  <a:pt x="0" y="44298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85720" y="8080892"/>
            <a:ext cx="442980" cy="442980"/>
          </a:xfrm>
          <a:custGeom>
            <a:avLst/>
            <a:gdLst/>
            <a:ahLst/>
            <a:cxnLst/>
            <a:rect r="r" b="b" t="t" l="l"/>
            <a:pathLst>
              <a:path h="442980" w="442980">
                <a:moveTo>
                  <a:pt x="0" y="0"/>
                </a:moveTo>
                <a:lnTo>
                  <a:pt x="442980" y="0"/>
                </a:lnTo>
                <a:lnTo>
                  <a:pt x="442980" y="442980"/>
                </a:lnTo>
                <a:lnTo>
                  <a:pt x="0" y="44298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3018940" y="2425768"/>
            <a:ext cx="6125060" cy="7568927"/>
            <a:chOff x="0" y="0"/>
            <a:chExt cx="1113370" cy="13758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13370" cy="1375826"/>
            </a:xfrm>
            <a:custGeom>
              <a:avLst/>
              <a:gdLst/>
              <a:ahLst/>
              <a:cxnLst/>
              <a:rect r="r" b="b" t="t" l="l"/>
              <a:pathLst>
                <a:path h="1375826" w="1113370">
                  <a:moveTo>
                    <a:pt x="37919" y="0"/>
                  </a:moveTo>
                  <a:lnTo>
                    <a:pt x="1075451" y="0"/>
                  </a:lnTo>
                  <a:cubicBezTo>
                    <a:pt x="1096393" y="0"/>
                    <a:pt x="1113370" y="16977"/>
                    <a:pt x="1113370" y="37919"/>
                  </a:cubicBezTo>
                  <a:lnTo>
                    <a:pt x="1113370" y="1337907"/>
                  </a:lnTo>
                  <a:cubicBezTo>
                    <a:pt x="1113370" y="1358849"/>
                    <a:pt x="1096393" y="1375826"/>
                    <a:pt x="1075451" y="1375826"/>
                  </a:cubicBezTo>
                  <a:lnTo>
                    <a:pt x="37919" y="1375826"/>
                  </a:lnTo>
                  <a:cubicBezTo>
                    <a:pt x="16977" y="1375826"/>
                    <a:pt x="0" y="1358849"/>
                    <a:pt x="0" y="1337907"/>
                  </a:cubicBezTo>
                  <a:lnTo>
                    <a:pt x="0" y="37919"/>
                  </a:lnTo>
                  <a:cubicBezTo>
                    <a:pt x="0" y="16977"/>
                    <a:pt x="16977" y="0"/>
                    <a:pt x="37919" y="0"/>
                  </a:cubicBezTo>
                  <a:close/>
                </a:path>
              </a:pathLst>
            </a:custGeom>
            <a:blipFill>
              <a:blip r:embed="rId13"/>
              <a:stretch>
                <a:fillRect l="0" t="-3677" r="0" b="-3677"/>
              </a:stretch>
            </a:blipFill>
            <a:ln w="95250" cap="rnd">
              <a:gradFill>
                <a:gsLst>
                  <a:gs pos="0">
                    <a:srgbClr val="334BAE">
                      <a:alpha val="100000"/>
                    </a:srgbClr>
                  </a:gs>
                  <a:gs pos="100000">
                    <a:srgbClr val="A1B1F7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320876" y="970157"/>
            <a:ext cx="17669768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80"/>
              </a:lnSpc>
              <a:spcBef>
                <a:spcPct val="0"/>
              </a:spcBef>
            </a:pPr>
            <a:r>
              <a:rPr lang="en-US" b="true" sz="6800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Hyperparame</a:t>
            </a:r>
            <a:r>
              <a:rPr lang="en-US" b="true" sz="6800" strike="noStrike" u="none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te</a:t>
            </a:r>
            <a:r>
              <a:rPr lang="en-US" b="true" sz="6800" strike="noStrike" u="none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r T</a:t>
            </a:r>
            <a:r>
              <a:rPr lang="en-US" b="true" sz="6800" strike="noStrike" u="none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u</a:t>
            </a:r>
            <a:r>
              <a:rPr lang="en-US" b="true" sz="6800" strike="noStrike" u="none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ning - LR &amp; Batch Size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273330">
            <a:off x="14230527" y="6220756"/>
            <a:ext cx="5460105" cy="5460105"/>
          </a:xfrm>
          <a:custGeom>
            <a:avLst/>
            <a:gdLst/>
            <a:ahLst/>
            <a:cxnLst/>
            <a:rect r="r" b="b" t="t" l="l"/>
            <a:pathLst>
              <a:path h="5460105" w="5460105">
                <a:moveTo>
                  <a:pt x="0" y="0"/>
                </a:moveTo>
                <a:lnTo>
                  <a:pt x="5460104" y="0"/>
                </a:lnTo>
                <a:lnTo>
                  <a:pt x="5460104" y="5460104"/>
                </a:lnTo>
                <a:lnTo>
                  <a:pt x="0" y="5460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10463851">
            <a:off x="-5471082" y="-1741862"/>
            <a:ext cx="11217039" cy="7422284"/>
          </a:xfrm>
          <a:custGeom>
            <a:avLst/>
            <a:gdLst/>
            <a:ahLst/>
            <a:cxnLst/>
            <a:rect r="r" b="b" t="t" l="l"/>
            <a:pathLst>
              <a:path h="7422284" w="11217039">
                <a:moveTo>
                  <a:pt x="11217039" y="0"/>
                </a:moveTo>
                <a:lnTo>
                  <a:pt x="0" y="0"/>
                </a:lnTo>
                <a:lnTo>
                  <a:pt x="0" y="7422284"/>
                </a:lnTo>
                <a:lnTo>
                  <a:pt x="11217039" y="7422284"/>
                </a:lnTo>
                <a:lnTo>
                  <a:pt x="112170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3771454" y="-651110"/>
            <a:ext cx="6003024" cy="4114800"/>
          </a:xfrm>
          <a:custGeom>
            <a:avLst/>
            <a:gdLst/>
            <a:ahLst/>
            <a:cxnLst/>
            <a:rect r="r" b="b" t="t" l="l"/>
            <a:pathLst>
              <a:path h="4114800" w="6003024">
                <a:moveTo>
                  <a:pt x="0" y="0"/>
                </a:moveTo>
                <a:lnTo>
                  <a:pt x="6003024" y="0"/>
                </a:lnTo>
                <a:lnTo>
                  <a:pt x="60030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-23737" y="8017281"/>
            <a:ext cx="5406668" cy="5406668"/>
          </a:xfrm>
          <a:custGeom>
            <a:avLst/>
            <a:gdLst/>
            <a:ahLst/>
            <a:cxnLst/>
            <a:rect r="r" b="b" t="t" l="l"/>
            <a:pathLst>
              <a:path h="5406668" w="5406668">
                <a:moveTo>
                  <a:pt x="0" y="0"/>
                </a:moveTo>
                <a:lnTo>
                  <a:pt x="5406668" y="0"/>
                </a:lnTo>
                <a:lnTo>
                  <a:pt x="5406668" y="5406668"/>
                </a:lnTo>
                <a:lnTo>
                  <a:pt x="0" y="54066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-369508" y="9777783"/>
            <a:ext cx="1957931" cy="1218914"/>
            <a:chOff x="0" y="0"/>
            <a:chExt cx="515669" cy="3210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5669" cy="321031"/>
            </a:xfrm>
            <a:custGeom>
              <a:avLst/>
              <a:gdLst/>
              <a:ahLst/>
              <a:cxnLst/>
              <a:rect r="r" b="b" t="t" l="l"/>
              <a:pathLst>
                <a:path h="321031" w="515669">
                  <a:moveTo>
                    <a:pt x="0" y="0"/>
                  </a:moveTo>
                  <a:lnTo>
                    <a:pt x="515669" y="0"/>
                  </a:lnTo>
                  <a:lnTo>
                    <a:pt x="515669" y="321031"/>
                  </a:lnTo>
                  <a:lnTo>
                    <a:pt x="0" y="321031"/>
                  </a:lnTo>
                  <a:close/>
                </a:path>
              </a:pathLst>
            </a:custGeom>
            <a:solidFill>
              <a:srgbClr val="334BA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515669" cy="387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4717247" y="208905"/>
            <a:ext cx="442980" cy="442980"/>
          </a:xfrm>
          <a:custGeom>
            <a:avLst/>
            <a:gdLst/>
            <a:ahLst/>
            <a:cxnLst/>
            <a:rect r="r" b="b" t="t" l="l"/>
            <a:pathLst>
              <a:path h="442980" w="442980">
                <a:moveTo>
                  <a:pt x="0" y="0"/>
                </a:moveTo>
                <a:lnTo>
                  <a:pt x="442980" y="0"/>
                </a:lnTo>
                <a:lnTo>
                  <a:pt x="442980" y="442980"/>
                </a:lnTo>
                <a:lnTo>
                  <a:pt x="0" y="442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85720" y="8080892"/>
            <a:ext cx="442980" cy="442980"/>
          </a:xfrm>
          <a:custGeom>
            <a:avLst/>
            <a:gdLst/>
            <a:ahLst/>
            <a:cxnLst/>
            <a:rect r="r" b="b" t="t" l="l"/>
            <a:pathLst>
              <a:path h="442980" w="442980">
                <a:moveTo>
                  <a:pt x="0" y="0"/>
                </a:moveTo>
                <a:lnTo>
                  <a:pt x="442980" y="0"/>
                </a:lnTo>
                <a:lnTo>
                  <a:pt x="442980" y="442980"/>
                </a:lnTo>
                <a:lnTo>
                  <a:pt x="0" y="442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51379" y="3195875"/>
            <a:ext cx="14985242" cy="5512400"/>
            <a:chOff x="0" y="0"/>
            <a:chExt cx="2588511" cy="9521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88511" cy="952197"/>
            </a:xfrm>
            <a:custGeom>
              <a:avLst/>
              <a:gdLst/>
              <a:ahLst/>
              <a:cxnLst/>
              <a:rect r="r" b="b" t="t" l="l"/>
              <a:pathLst>
                <a:path h="952197" w="2588511">
                  <a:moveTo>
                    <a:pt x="15499" y="0"/>
                  </a:moveTo>
                  <a:lnTo>
                    <a:pt x="2573012" y="0"/>
                  </a:lnTo>
                  <a:cubicBezTo>
                    <a:pt x="2577123" y="0"/>
                    <a:pt x="2581065" y="1633"/>
                    <a:pt x="2583972" y="4540"/>
                  </a:cubicBezTo>
                  <a:cubicBezTo>
                    <a:pt x="2586878" y="7446"/>
                    <a:pt x="2588511" y="11388"/>
                    <a:pt x="2588511" y="15499"/>
                  </a:cubicBezTo>
                  <a:lnTo>
                    <a:pt x="2588511" y="936698"/>
                  </a:lnTo>
                  <a:cubicBezTo>
                    <a:pt x="2588511" y="940809"/>
                    <a:pt x="2586878" y="944751"/>
                    <a:pt x="2583972" y="947658"/>
                  </a:cubicBezTo>
                  <a:cubicBezTo>
                    <a:pt x="2581065" y="950564"/>
                    <a:pt x="2577123" y="952197"/>
                    <a:pt x="2573012" y="952197"/>
                  </a:cubicBezTo>
                  <a:lnTo>
                    <a:pt x="15499" y="952197"/>
                  </a:lnTo>
                  <a:cubicBezTo>
                    <a:pt x="11388" y="952197"/>
                    <a:pt x="7446" y="950564"/>
                    <a:pt x="4540" y="947658"/>
                  </a:cubicBezTo>
                  <a:cubicBezTo>
                    <a:pt x="1633" y="944751"/>
                    <a:pt x="0" y="940809"/>
                    <a:pt x="0" y="936698"/>
                  </a:cubicBezTo>
                  <a:lnTo>
                    <a:pt x="0" y="15499"/>
                  </a:lnTo>
                  <a:cubicBezTo>
                    <a:pt x="0" y="11388"/>
                    <a:pt x="1633" y="7446"/>
                    <a:pt x="4540" y="4540"/>
                  </a:cubicBezTo>
                  <a:cubicBezTo>
                    <a:pt x="7446" y="1633"/>
                    <a:pt x="11388" y="0"/>
                    <a:pt x="15499" y="0"/>
                  </a:cubicBezTo>
                  <a:close/>
                </a:path>
              </a:pathLst>
            </a:custGeom>
            <a:blipFill>
              <a:blip r:embed="rId12"/>
              <a:stretch>
                <a:fillRect l="-374" t="0" r="-374" b="0"/>
              </a:stretch>
            </a:blipFill>
            <a:ln w="95250" cap="rnd">
              <a:gradFill>
                <a:gsLst>
                  <a:gs pos="0">
                    <a:srgbClr val="334BAE">
                      <a:alpha val="100000"/>
                    </a:srgbClr>
                  </a:gs>
                  <a:gs pos="100000">
                    <a:srgbClr val="A1B1F7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320876" y="970157"/>
            <a:ext cx="17669768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80"/>
              </a:lnSpc>
              <a:spcBef>
                <a:spcPct val="0"/>
              </a:spcBef>
            </a:pPr>
            <a:r>
              <a:rPr lang="en-US" b="true" sz="6800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Hyperparame</a:t>
            </a:r>
            <a:r>
              <a:rPr lang="en-US" b="true" sz="6800" strike="noStrike" u="none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te</a:t>
            </a:r>
            <a:r>
              <a:rPr lang="en-US" b="true" sz="6800" strike="noStrike" u="none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r T</a:t>
            </a:r>
            <a:r>
              <a:rPr lang="en-US" b="true" sz="6800" strike="noStrike" u="none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u</a:t>
            </a:r>
            <a:r>
              <a:rPr lang="en-US" b="true" sz="6800" strike="noStrike" u="none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ning - Optimizers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273330">
            <a:off x="14230527" y="6220756"/>
            <a:ext cx="5460105" cy="5460105"/>
          </a:xfrm>
          <a:custGeom>
            <a:avLst/>
            <a:gdLst/>
            <a:ahLst/>
            <a:cxnLst/>
            <a:rect r="r" b="b" t="t" l="l"/>
            <a:pathLst>
              <a:path h="5460105" w="5460105">
                <a:moveTo>
                  <a:pt x="0" y="0"/>
                </a:moveTo>
                <a:lnTo>
                  <a:pt x="5460104" y="0"/>
                </a:lnTo>
                <a:lnTo>
                  <a:pt x="5460104" y="5460104"/>
                </a:lnTo>
                <a:lnTo>
                  <a:pt x="0" y="5460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10463851">
            <a:off x="-5471082" y="-1741862"/>
            <a:ext cx="11217039" cy="7422284"/>
          </a:xfrm>
          <a:custGeom>
            <a:avLst/>
            <a:gdLst/>
            <a:ahLst/>
            <a:cxnLst/>
            <a:rect r="r" b="b" t="t" l="l"/>
            <a:pathLst>
              <a:path h="7422284" w="11217039">
                <a:moveTo>
                  <a:pt x="11217039" y="0"/>
                </a:moveTo>
                <a:lnTo>
                  <a:pt x="0" y="0"/>
                </a:lnTo>
                <a:lnTo>
                  <a:pt x="0" y="7422284"/>
                </a:lnTo>
                <a:lnTo>
                  <a:pt x="11217039" y="7422284"/>
                </a:lnTo>
                <a:lnTo>
                  <a:pt x="112170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3796822" y="-1028700"/>
            <a:ext cx="6003024" cy="4114800"/>
          </a:xfrm>
          <a:custGeom>
            <a:avLst/>
            <a:gdLst/>
            <a:ahLst/>
            <a:cxnLst/>
            <a:rect r="r" b="b" t="t" l="l"/>
            <a:pathLst>
              <a:path h="4114800" w="6003024">
                <a:moveTo>
                  <a:pt x="0" y="0"/>
                </a:moveTo>
                <a:lnTo>
                  <a:pt x="6003024" y="0"/>
                </a:lnTo>
                <a:lnTo>
                  <a:pt x="60030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-23737" y="8017281"/>
            <a:ext cx="5406668" cy="5406668"/>
          </a:xfrm>
          <a:custGeom>
            <a:avLst/>
            <a:gdLst/>
            <a:ahLst/>
            <a:cxnLst/>
            <a:rect r="r" b="b" t="t" l="l"/>
            <a:pathLst>
              <a:path h="5406668" w="5406668">
                <a:moveTo>
                  <a:pt x="0" y="0"/>
                </a:moveTo>
                <a:lnTo>
                  <a:pt x="5406668" y="0"/>
                </a:lnTo>
                <a:lnTo>
                  <a:pt x="5406668" y="5406668"/>
                </a:lnTo>
                <a:lnTo>
                  <a:pt x="0" y="54066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-369508" y="9777783"/>
            <a:ext cx="1957931" cy="1218914"/>
            <a:chOff x="0" y="0"/>
            <a:chExt cx="515669" cy="3210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5669" cy="321031"/>
            </a:xfrm>
            <a:custGeom>
              <a:avLst/>
              <a:gdLst/>
              <a:ahLst/>
              <a:cxnLst/>
              <a:rect r="r" b="b" t="t" l="l"/>
              <a:pathLst>
                <a:path h="321031" w="515669">
                  <a:moveTo>
                    <a:pt x="0" y="0"/>
                  </a:moveTo>
                  <a:lnTo>
                    <a:pt x="515669" y="0"/>
                  </a:lnTo>
                  <a:lnTo>
                    <a:pt x="515669" y="321031"/>
                  </a:lnTo>
                  <a:lnTo>
                    <a:pt x="0" y="321031"/>
                  </a:lnTo>
                  <a:close/>
                </a:path>
              </a:pathLst>
            </a:custGeom>
            <a:solidFill>
              <a:srgbClr val="334BA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515669" cy="387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4717247" y="208905"/>
            <a:ext cx="442980" cy="442980"/>
          </a:xfrm>
          <a:custGeom>
            <a:avLst/>
            <a:gdLst/>
            <a:ahLst/>
            <a:cxnLst/>
            <a:rect r="r" b="b" t="t" l="l"/>
            <a:pathLst>
              <a:path h="442980" w="442980">
                <a:moveTo>
                  <a:pt x="0" y="0"/>
                </a:moveTo>
                <a:lnTo>
                  <a:pt x="442980" y="0"/>
                </a:lnTo>
                <a:lnTo>
                  <a:pt x="442980" y="442980"/>
                </a:lnTo>
                <a:lnTo>
                  <a:pt x="0" y="442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85720" y="8080892"/>
            <a:ext cx="442980" cy="442980"/>
          </a:xfrm>
          <a:custGeom>
            <a:avLst/>
            <a:gdLst/>
            <a:ahLst/>
            <a:cxnLst/>
            <a:rect r="r" b="b" t="t" l="l"/>
            <a:pathLst>
              <a:path h="442980" w="442980">
                <a:moveTo>
                  <a:pt x="0" y="0"/>
                </a:moveTo>
                <a:lnTo>
                  <a:pt x="442980" y="0"/>
                </a:lnTo>
                <a:lnTo>
                  <a:pt x="442980" y="442980"/>
                </a:lnTo>
                <a:lnTo>
                  <a:pt x="0" y="442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843451" y="3662656"/>
            <a:ext cx="12095286" cy="5095151"/>
            <a:chOff x="0" y="0"/>
            <a:chExt cx="2588511" cy="109041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88511" cy="1090413"/>
            </a:xfrm>
            <a:custGeom>
              <a:avLst/>
              <a:gdLst/>
              <a:ahLst/>
              <a:cxnLst/>
              <a:rect r="r" b="b" t="t" l="l"/>
              <a:pathLst>
                <a:path h="1090413" w="2588511">
                  <a:moveTo>
                    <a:pt x="19202" y="0"/>
                  </a:moveTo>
                  <a:lnTo>
                    <a:pt x="2569309" y="0"/>
                  </a:lnTo>
                  <a:cubicBezTo>
                    <a:pt x="2579914" y="0"/>
                    <a:pt x="2588511" y="8597"/>
                    <a:pt x="2588511" y="19202"/>
                  </a:cubicBezTo>
                  <a:lnTo>
                    <a:pt x="2588511" y="1071211"/>
                  </a:lnTo>
                  <a:cubicBezTo>
                    <a:pt x="2588511" y="1076303"/>
                    <a:pt x="2586488" y="1081188"/>
                    <a:pt x="2582887" y="1084789"/>
                  </a:cubicBezTo>
                  <a:cubicBezTo>
                    <a:pt x="2579286" y="1088390"/>
                    <a:pt x="2574402" y="1090413"/>
                    <a:pt x="2569309" y="1090413"/>
                  </a:cubicBezTo>
                  <a:lnTo>
                    <a:pt x="19202" y="1090413"/>
                  </a:lnTo>
                  <a:cubicBezTo>
                    <a:pt x="8597" y="1090413"/>
                    <a:pt x="0" y="1081816"/>
                    <a:pt x="0" y="1071211"/>
                  </a:cubicBezTo>
                  <a:lnTo>
                    <a:pt x="0" y="19202"/>
                  </a:lnTo>
                  <a:cubicBezTo>
                    <a:pt x="0" y="8597"/>
                    <a:pt x="8597" y="0"/>
                    <a:pt x="19202" y="0"/>
                  </a:cubicBezTo>
                  <a:close/>
                </a:path>
              </a:pathLst>
            </a:custGeom>
            <a:blipFill>
              <a:blip r:embed="rId12"/>
              <a:stretch>
                <a:fillRect l="-226" t="0" r="-226" b="0"/>
              </a:stretch>
            </a:blipFill>
            <a:ln w="95250" cap="rnd">
              <a:gradFill>
                <a:gsLst>
                  <a:gs pos="0">
                    <a:srgbClr val="334BAE">
                      <a:alpha val="100000"/>
                    </a:srgbClr>
                  </a:gs>
                  <a:gs pos="100000">
                    <a:srgbClr val="A1B1F7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320876" y="1680469"/>
            <a:ext cx="17669768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80"/>
              </a:lnSpc>
              <a:spcBef>
                <a:spcPct val="0"/>
              </a:spcBef>
            </a:pPr>
            <a:r>
              <a:rPr lang="en-US" b="true" sz="6800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Best Performing Mod</a:t>
            </a:r>
            <a:r>
              <a:rPr lang="en-US" b="true" sz="6800" strike="noStrike" u="none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el </a:t>
            </a:r>
            <a:r>
              <a:rPr lang="en-US" b="true" sz="6800" strike="noStrike" u="none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Co</a:t>
            </a:r>
            <a:r>
              <a:rPr lang="en-US" b="true" sz="6800" strike="noStrike" u="none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n</a:t>
            </a:r>
            <a:r>
              <a:rPr lang="en-US" b="true" sz="6800" strike="noStrike" u="none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f</a:t>
            </a:r>
            <a:r>
              <a:rPr lang="en-US" b="true" sz="6800" strike="noStrike" u="none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ig</a:t>
            </a:r>
            <a:r>
              <a:rPr lang="en-US" b="true" sz="6800" strike="noStrike" u="none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ura</a:t>
            </a:r>
            <a:r>
              <a:rPr lang="en-US" b="true" sz="6800" strike="noStrike" u="none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ti</a:t>
            </a:r>
            <a:r>
              <a:rPr lang="en-US" b="true" sz="6800" strike="noStrike" u="none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on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350144">
            <a:off x="2944554" y="-6550605"/>
            <a:ext cx="9849240" cy="8488254"/>
          </a:xfrm>
          <a:custGeom>
            <a:avLst/>
            <a:gdLst/>
            <a:ahLst/>
            <a:cxnLst/>
            <a:rect r="r" b="b" t="t" l="l"/>
            <a:pathLst>
              <a:path h="8488254" w="9849240">
                <a:moveTo>
                  <a:pt x="0" y="0"/>
                </a:moveTo>
                <a:lnTo>
                  <a:pt x="9849240" y="0"/>
                </a:lnTo>
                <a:lnTo>
                  <a:pt x="9849240" y="8488254"/>
                </a:lnTo>
                <a:lnTo>
                  <a:pt x="0" y="8488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48449" y="433908"/>
            <a:ext cx="9436929" cy="2595912"/>
            <a:chOff x="0" y="0"/>
            <a:chExt cx="2485446" cy="6836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85446" cy="683697"/>
            </a:xfrm>
            <a:custGeom>
              <a:avLst/>
              <a:gdLst/>
              <a:ahLst/>
              <a:cxnLst/>
              <a:rect r="r" b="b" t="t" l="l"/>
              <a:pathLst>
                <a:path h="683697" w="2485446">
                  <a:moveTo>
                    <a:pt x="0" y="0"/>
                  </a:moveTo>
                  <a:lnTo>
                    <a:pt x="2485446" y="0"/>
                  </a:lnTo>
                  <a:lnTo>
                    <a:pt x="2485446" y="683697"/>
                  </a:lnTo>
                  <a:lnTo>
                    <a:pt x="0" y="683697"/>
                  </a:lnTo>
                  <a:close/>
                </a:path>
              </a:pathLst>
            </a:custGeom>
            <a:solidFill>
              <a:srgbClr val="334BA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2485446" cy="750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00148" y="3372720"/>
            <a:ext cx="8556100" cy="653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334BAE"/>
                </a:solidFill>
                <a:latin typeface="Poppins Bold"/>
                <a:ea typeface="Poppins Bold"/>
                <a:cs typeface="Poppins Bold"/>
                <a:sym typeface="Poppins Bold"/>
              </a:rPr>
              <a:t>1. Decision Tree</a:t>
            </a:r>
          </a:p>
          <a:p>
            <a:pPr algn="l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Simp</a:t>
            </a:r>
            <a:r>
              <a:rPr lang="en-US" sz="3099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le</a:t>
            </a:r>
          </a:p>
          <a:p>
            <a:pPr algn="l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Interpretable</a:t>
            </a:r>
          </a:p>
          <a:p>
            <a:pPr algn="l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Does not generalize well</a:t>
            </a:r>
          </a:p>
          <a:p>
            <a:pPr algn="l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Medium performance</a:t>
            </a:r>
          </a:p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334BAE"/>
                </a:solidFill>
                <a:latin typeface="Poppins Bold"/>
                <a:ea typeface="Poppins Bold"/>
                <a:cs typeface="Poppins Bold"/>
                <a:sym typeface="Poppins Bold"/>
              </a:rPr>
              <a:t>2. Random Forest</a:t>
            </a:r>
          </a:p>
          <a:p>
            <a:pPr algn="l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Best performer</a:t>
            </a:r>
          </a:p>
          <a:p>
            <a:pPr algn="l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Handles high-cardinality categorical features</a:t>
            </a:r>
          </a:p>
          <a:p>
            <a:pPr algn="l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Robust to</a:t>
            </a:r>
            <a:r>
              <a:rPr lang="en-US" sz="3099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 outliers</a:t>
            </a:r>
          </a:p>
          <a:p>
            <a:pPr algn="l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Lower variance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334BAE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3481" y="777313"/>
            <a:ext cx="8030519" cy="20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Machine Learning Models Used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56247" y="3372720"/>
            <a:ext cx="8556100" cy="5189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334BAE"/>
                </a:solidFill>
                <a:latin typeface="Poppins Bold"/>
                <a:ea typeface="Poppins Bold"/>
                <a:cs typeface="Poppins Bold"/>
                <a:sym typeface="Poppins Bold"/>
              </a:rPr>
              <a:t>3. SVR</a:t>
            </a:r>
          </a:p>
          <a:p>
            <a:pPr algn="l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Good for smooth, nonlinear patterns</a:t>
            </a:r>
          </a:p>
          <a:p>
            <a:pPr algn="l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Requires scaling</a:t>
            </a:r>
          </a:p>
          <a:p>
            <a:pPr algn="l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Slower</a:t>
            </a:r>
          </a:p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334BAE"/>
                </a:solidFill>
                <a:latin typeface="Poppins Bold"/>
                <a:ea typeface="Poppins Bold"/>
                <a:cs typeface="Poppins Bold"/>
                <a:sym typeface="Poppins Bold"/>
              </a:rPr>
              <a:t>4. Neural</a:t>
            </a:r>
            <a:r>
              <a:rPr lang="en-US" sz="3099" b="true">
                <a:solidFill>
                  <a:srgbClr val="334BAE"/>
                </a:solidFill>
                <a:latin typeface="Poppins Bold"/>
                <a:ea typeface="Poppins Bold"/>
                <a:cs typeface="Poppins Bold"/>
                <a:sym typeface="Poppins Bold"/>
              </a:rPr>
              <a:t> Network</a:t>
            </a:r>
          </a:p>
          <a:p>
            <a:pPr algn="l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Complex nonlinear relationships</a:t>
            </a:r>
          </a:p>
          <a:p>
            <a:pPr algn="l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Needs scaled inputs</a:t>
            </a:r>
          </a:p>
          <a:p>
            <a:pPr algn="l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Performs well but sensitive to training parameters</a:t>
            </a:r>
          </a:p>
          <a:p>
            <a:pPr algn="l">
              <a:lnSpc>
                <a:spcPts val="2151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34B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45380" y="-901500"/>
            <a:ext cx="10283828" cy="13195268"/>
            <a:chOff x="0" y="0"/>
            <a:chExt cx="2708498" cy="34752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8498" cy="3475297"/>
            </a:xfrm>
            <a:custGeom>
              <a:avLst/>
              <a:gdLst/>
              <a:ahLst/>
              <a:cxnLst/>
              <a:rect r="r" b="b" t="t" l="l"/>
              <a:pathLst>
                <a:path h="3475297" w="2708498">
                  <a:moveTo>
                    <a:pt x="0" y="0"/>
                  </a:moveTo>
                  <a:lnTo>
                    <a:pt x="2708498" y="0"/>
                  </a:lnTo>
                  <a:lnTo>
                    <a:pt x="2708498" y="3475297"/>
                  </a:lnTo>
                  <a:lnTo>
                    <a:pt x="0" y="3475297"/>
                  </a:lnTo>
                  <a:close/>
                </a:path>
              </a:pathLst>
            </a:custGeom>
            <a:gradFill rotWithShape="true">
              <a:gsLst>
                <a:gs pos="0">
                  <a:srgbClr val="334BAE">
                    <a:alpha val="0"/>
                  </a:srgbClr>
                </a:gs>
                <a:gs pos="100000">
                  <a:srgbClr val="172975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708498" cy="3541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9177516">
            <a:off x="-1425869" y="-4059400"/>
            <a:ext cx="7032155" cy="15060368"/>
            <a:chOff x="0" y="0"/>
            <a:chExt cx="1852090" cy="39665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52090" cy="3966516"/>
            </a:xfrm>
            <a:custGeom>
              <a:avLst/>
              <a:gdLst/>
              <a:ahLst/>
              <a:cxnLst/>
              <a:rect r="r" b="b" t="t" l="l"/>
              <a:pathLst>
                <a:path h="3966516" w="1852090">
                  <a:moveTo>
                    <a:pt x="0" y="0"/>
                  </a:moveTo>
                  <a:lnTo>
                    <a:pt x="1852090" y="0"/>
                  </a:lnTo>
                  <a:lnTo>
                    <a:pt x="1852090" y="3966516"/>
                  </a:lnTo>
                  <a:lnTo>
                    <a:pt x="0" y="3966516"/>
                  </a:lnTo>
                  <a:close/>
                </a:path>
              </a:pathLst>
            </a:custGeom>
            <a:gradFill rotWithShape="true">
              <a:gsLst>
                <a:gs pos="0">
                  <a:srgbClr val="334BAE">
                    <a:alpha val="0"/>
                  </a:srgbClr>
                </a:gs>
                <a:gs pos="100000">
                  <a:srgbClr val="172975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852090" cy="4033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011053" y="-901500"/>
            <a:ext cx="5406668" cy="5406668"/>
          </a:xfrm>
          <a:custGeom>
            <a:avLst/>
            <a:gdLst/>
            <a:ahLst/>
            <a:cxnLst/>
            <a:rect r="r" b="b" t="t" l="l"/>
            <a:pathLst>
              <a:path h="5406668" w="5406668">
                <a:moveTo>
                  <a:pt x="0" y="0"/>
                </a:moveTo>
                <a:lnTo>
                  <a:pt x="5406668" y="0"/>
                </a:lnTo>
                <a:lnTo>
                  <a:pt x="5406668" y="5406669"/>
                </a:lnTo>
                <a:lnTo>
                  <a:pt x="0" y="54066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813572" y="5908210"/>
            <a:ext cx="5406668" cy="5406668"/>
          </a:xfrm>
          <a:custGeom>
            <a:avLst/>
            <a:gdLst/>
            <a:ahLst/>
            <a:cxnLst/>
            <a:rect r="r" b="b" t="t" l="l"/>
            <a:pathLst>
              <a:path h="5406668" w="5406668">
                <a:moveTo>
                  <a:pt x="0" y="0"/>
                </a:moveTo>
                <a:lnTo>
                  <a:pt x="5406668" y="0"/>
                </a:lnTo>
                <a:lnTo>
                  <a:pt x="5406668" y="5406668"/>
                </a:lnTo>
                <a:lnTo>
                  <a:pt x="0" y="5406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913439">
            <a:off x="9664228" y="6953325"/>
            <a:ext cx="9849240" cy="8488254"/>
          </a:xfrm>
          <a:custGeom>
            <a:avLst/>
            <a:gdLst/>
            <a:ahLst/>
            <a:cxnLst/>
            <a:rect r="r" b="b" t="t" l="l"/>
            <a:pathLst>
              <a:path h="8488254" w="9849240">
                <a:moveTo>
                  <a:pt x="0" y="0"/>
                </a:moveTo>
                <a:lnTo>
                  <a:pt x="9849239" y="0"/>
                </a:lnTo>
                <a:lnTo>
                  <a:pt x="9849239" y="8488254"/>
                </a:lnTo>
                <a:lnTo>
                  <a:pt x="0" y="84882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11" id="11"/>
          <p:cNvGraphicFramePr/>
          <p:nvPr/>
        </p:nvGraphicFramePr>
        <p:xfrm>
          <a:off x="1264124" y="2121075"/>
          <a:ext cx="11315700" cy="3143250"/>
        </p:xfrm>
        <a:graphic>
          <a:graphicData uri="http://schemas.openxmlformats.org/presentationml/2006/ole">
            <p:oleObj imgW="13576300" imgH="5410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680653" y="616940"/>
            <a:ext cx="10809538" cy="108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Model Evaluation Results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57906" y="9440506"/>
            <a:ext cx="13879101" cy="186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Conclusion: Random Forest is the strongest performer.</a:t>
            </a:r>
          </a:p>
          <a:p>
            <a:pPr algn="l">
              <a:lnSpc>
                <a:spcPts val="6800"/>
              </a:lnSpc>
            </a:pPr>
          </a:p>
          <a:p>
            <a:pPr algn="l">
              <a:lnSpc>
                <a:spcPts val="3500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273330">
            <a:off x="12415055" y="4861984"/>
            <a:ext cx="8300686" cy="8300686"/>
          </a:xfrm>
          <a:custGeom>
            <a:avLst/>
            <a:gdLst/>
            <a:ahLst/>
            <a:cxnLst/>
            <a:rect r="r" b="b" t="t" l="l"/>
            <a:pathLst>
              <a:path h="8300686" w="8300686">
                <a:moveTo>
                  <a:pt x="0" y="0"/>
                </a:moveTo>
                <a:lnTo>
                  <a:pt x="8300686" y="0"/>
                </a:lnTo>
                <a:lnTo>
                  <a:pt x="8300686" y="8300686"/>
                </a:lnTo>
                <a:lnTo>
                  <a:pt x="0" y="8300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273330">
            <a:off x="-259276" y="1472988"/>
            <a:ext cx="5988704" cy="5988704"/>
          </a:xfrm>
          <a:custGeom>
            <a:avLst/>
            <a:gdLst/>
            <a:ahLst/>
            <a:cxnLst/>
            <a:rect r="r" b="b" t="t" l="l"/>
            <a:pathLst>
              <a:path h="5988704" w="5988704">
                <a:moveTo>
                  <a:pt x="0" y="0"/>
                </a:moveTo>
                <a:lnTo>
                  <a:pt x="5988704" y="0"/>
                </a:lnTo>
                <a:lnTo>
                  <a:pt x="5988704" y="5988704"/>
                </a:lnTo>
                <a:lnTo>
                  <a:pt x="0" y="59887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14921" y="4829550"/>
            <a:ext cx="7315200" cy="2221000"/>
          </a:xfrm>
          <a:custGeom>
            <a:avLst/>
            <a:gdLst/>
            <a:ahLst/>
            <a:cxnLst/>
            <a:rect r="r" b="b" t="t" l="l"/>
            <a:pathLst>
              <a:path h="2221000" w="7315200">
                <a:moveTo>
                  <a:pt x="0" y="0"/>
                </a:moveTo>
                <a:lnTo>
                  <a:pt x="7315200" y="0"/>
                </a:lnTo>
                <a:lnTo>
                  <a:pt x="7315200" y="2221001"/>
                </a:lnTo>
                <a:lnTo>
                  <a:pt x="0" y="2221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982266" y="6487504"/>
            <a:ext cx="3815785" cy="1254571"/>
            <a:chOff x="0" y="0"/>
            <a:chExt cx="1004980" cy="3304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04980" cy="330422"/>
            </a:xfrm>
            <a:custGeom>
              <a:avLst/>
              <a:gdLst/>
              <a:ahLst/>
              <a:cxnLst/>
              <a:rect r="r" b="b" t="t" l="l"/>
              <a:pathLst>
                <a:path h="330422" w="1004980">
                  <a:moveTo>
                    <a:pt x="0" y="0"/>
                  </a:moveTo>
                  <a:lnTo>
                    <a:pt x="1004980" y="0"/>
                  </a:lnTo>
                  <a:lnTo>
                    <a:pt x="1004980" y="330422"/>
                  </a:lnTo>
                  <a:lnTo>
                    <a:pt x="0" y="330422"/>
                  </a:lnTo>
                  <a:close/>
                </a:path>
              </a:pathLst>
            </a:custGeom>
            <a:solidFill>
              <a:srgbClr val="334BA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004980" cy="397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975123" y="3224293"/>
            <a:ext cx="12730057" cy="6600560"/>
            <a:chOff x="0" y="0"/>
            <a:chExt cx="1512282" cy="7841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12282" cy="784121"/>
            </a:xfrm>
            <a:custGeom>
              <a:avLst/>
              <a:gdLst/>
              <a:ahLst/>
              <a:cxnLst/>
              <a:rect r="r" b="b" t="t" l="l"/>
              <a:pathLst>
                <a:path h="784121" w="1512282">
                  <a:moveTo>
                    <a:pt x="36490" y="0"/>
                  </a:moveTo>
                  <a:lnTo>
                    <a:pt x="1475792" y="0"/>
                  </a:lnTo>
                  <a:cubicBezTo>
                    <a:pt x="1495945" y="0"/>
                    <a:pt x="1512282" y="16337"/>
                    <a:pt x="1512282" y="36490"/>
                  </a:cubicBezTo>
                  <a:lnTo>
                    <a:pt x="1512282" y="747631"/>
                  </a:lnTo>
                  <a:cubicBezTo>
                    <a:pt x="1512282" y="767784"/>
                    <a:pt x="1495945" y="784121"/>
                    <a:pt x="1475792" y="784121"/>
                  </a:cubicBezTo>
                  <a:lnTo>
                    <a:pt x="36490" y="784121"/>
                  </a:lnTo>
                  <a:cubicBezTo>
                    <a:pt x="16337" y="784121"/>
                    <a:pt x="0" y="767784"/>
                    <a:pt x="0" y="747631"/>
                  </a:cubicBezTo>
                  <a:lnTo>
                    <a:pt x="0" y="36490"/>
                  </a:lnTo>
                  <a:cubicBezTo>
                    <a:pt x="0" y="16337"/>
                    <a:pt x="16337" y="0"/>
                    <a:pt x="36490" y="0"/>
                  </a:cubicBezTo>
                  <a:close/>
                </a:path>
              </a:pathLst>
            </a:custGeom>
            <a:blipFill>
              <a:blip r:embed="rId6"/>
              <a:stretch>
                <a:fillRect l="-1592" t="0" r="-1592" b="0"/>
              </a:stretch>
            </a:blipFill>
            <a:ln w="95250" cap="rnd">
              <a:gradFill>
                <a:gsLst>
                  <a:gs pos="0">
                    <a:srgbClr val="334BAE">
                      <a:alpha val="100000"/>
                    </a:srgbClr>
                  </a:gs>
                  <a:gs pos="100000">
                    <a:srgbClr val="A1B1F7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5400000">
            <a:off x="-819827" y="-2930721"/>
            <a:ext cx="7315200" cy="2221000"/>
          </a:xfrm>
          <a:custGeom>
            <a:avLst/>
            <a:gdLst/>
            <a:ahLst/>
            <a:cxnLst/>
            <a:rect r="r" b="b" t="t" l="l"/>
            <a:pathLst>
              <a:path h="2221000" w="7315200">
                <a:moveTo>
                  <a:pt x="0" y="0"/>
                </a:moveTo>
                <a:lnTo>
                  <a:pt x="7315200" y="0"/>
                </a:lnTo>
                <a:lnTo>
                  <a:pt x="7315200" y="2221000"/>
                </a:lnTo>
                <a:lnTo>
                  <a:pt x="0" y="2221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0691" y="0"/>
            <a:ext cx="1438181" cy="1254571"/>
            <a:chOff x="0" y="0"/>
            <a:chExt cx="378780" cy="3304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8780" cy="330422"/>
            </a:xfrm>
            <a:custGeom>
              <a:avLst/>
              <a:gdLst/>
              <a:ahLst/>
              <a:cxnLst/>
              <a:rect r="r" b="b" t="t" l="l"/>
              <a:pathLst>
                <a:path h="330422" w="378780">
                  <a:moveTo>
                    <a:pt x="0" y="0"/>
                  </a:moveTo>
                  <a:lnTo>
                    <a:pt x="378780" y="0"/>
                  </a:lnTo>
                  <a:lnTo>
                    <a:pt x="378780" y="330422"/>
                  </a:lnTo>
                  <a:lnTo>
                    <a:pt x="0" y="330422"/>
                  </a:lnTo>
                  <a:close/>
                </a:path>
              </a:pathLst>
            </a:custGeom>
            <a:solidFill>
              <a:srgbClr val="334BA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378780" cy="397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565398" y="477930"/>
            <a:ext cx="1081512" cy="1101540"/>
          </a:xfrm>
          <a:custGeom>
            <a:avLst/>
            <a:gdLst/>
            <a:ahLst/>
            <a:cxnLst/>
            <a:rect r="r" b="b" t="t" l="l"/>
            <a:pathLst>
              <a:path h="1101540" w="1081512">
                <a:moveTo>
                  <a:pt x="0" y="0"/>
                </a:moveTo>
                <a:lnTo>
                  <a:pt x="1081511" y="0"/>
                </a:lnTo>
                <a:lnTo>
                  <a:pt x="1081511" y="1101540"/>
                </a:lnTo>
                <a:lnTo>
                  <a:pt x="0" y="11015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5400000">
            <a:off x="2522521" y="8434477"/>
            <a:ext cx="425110" cy="2015607"/>
          </a:xfrm>
          <a:custGeom>
            <a:avLst/>
            <a:gdLst/>
            <a:ahLst/>
            <a:cxnLst/>
            <a:rect r="r" b="b" t="t" l="l"/>
            <a:pathLst>
              <a:path h="2015607" w="425110">
                <a:moveTo>
                  <a:pt x="0" y="0"/>
                </a:moveTo>
                <a:lnTo>
                  <a:pt x="425110" y="0"/>
                </a:lnTo>
                <a:lnTo>
                  <a:pt x="425110" y="2015606"/>
                </a:lnTo>
                <a:lnTo>
                  <a:pt x="0" y="20156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434391" y="1799965"/>
            <a:ext cx="15824909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80"/>
              </a:lnSpc>
              <a:spcBef>
                <a:spcPct val="0"/>
              </a:spcBef>
            </a:pPr>
            <a:r>
              <a:rPr lang="en-US" b="true" sz="6800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R</a:t>
            </a:r>
            <a:r>
              <a:rPr lang="en-US" b="true" sz="6800" strike="noStrike" u="none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and</a:t>
            </a:r>
            <a:r>
              <a:rPr lang="en-US" b="true" sz="6800" strike="noStrike" u="none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om</a:t>
            </a:r>
            <a:r>
              <a:rPr lang="en-US" b="true" sz="6800" strike="noStrike" u="none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 Forest feature importance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273330">
            <a:off x="12415055" y="4861984"/>
            <a:ext cx="8300686" cy="8300686"/>
          </a:xfrm>
          <a:custGeom>
            <a:avLst/>
            <a:gdLst/>
            <a:ahLst/>
            <a:cxnLst/>
            <a:rect r="r" b="b" t="t" l="l"/>
            <a:pathLst>
              <a:path h="8300686" w="8300686">
                <a:moveTo>
                  <a:pt x="0" y="0"/>
                </a:moveTo>
                <a:lnTo>
                  <a:pt x="8300686" y="0"/>
                </a:lnTo>
                <a:lnTo>
                  <a:pt x="8300686" y="8300686"/>
                </a:lnTo>
                <a:lnTo>
                  <a:pt x="0" y="8300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273330">
            <a:off x="298826" y="1659477"/>
            <a:ext cx="5988704" cy="5988704"/>
          </a:xfrm>
          <a:custGeom>
            <a:avLst/>
            <a:gdLst/>
            <a:ahLst/>
            <a:cxnLst/>
            <a:rect r="r" b="b" t="t" l="l"/>
            <a:pathLst>
              <a:path h="5988704" w="5988704">
                <a:moveTo>
                  <a:pt x="0" y="0"/>
                </a:moveTo>
                <a:lnTo>
                  <a:pt x="5988704" y="0"/>
                </a:lnTo>
                <a:lnTo>
                  <a:pt x="5988704" y="5988704"/>
                </a:lnTo>
                <a:lnTo>
                  <a:pt x="0" y="59887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14921" y="4829550"/>
            <a:ext cx="7315200" cy="2221000"/>
          </a:xfrm>
          <a:custGeom>
            <a:avLst/>
            <a:gdLst/>
            <a:ahLst/>
            <a:cxnLst/>
            <a:rect r="r" b="b" t="t" l="l"/>
            <a:pathLst>
              <a:path h="2221000" w="7315200">
                <a:moveTo>
                  <a:pt x="0" y="0"/>
                </a:moveTo>
                <a:lnTo>
                  <a:pt x="7315200" y="0"/>
                </a:lnTo>
                <a:lnTo>
                  <a:pt x="7315200" y="2221001"/>
                </a:lnTo>
                <a:lnTo>
                  <a:pt x="0" y="2221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982266" y="6487504"/>
            <a:ext cx="3815785" cy="1254571"/>
            <a:chOff x="0" y="0"/>
            <a:chExt cx="1004980" cy="3304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04980" cy="330422"/>
            </a:xfrm>
            <a:custGeom>
              <a:avLst/>
              <a:gdLst/>
              <a:ahLst/>
              <a:cxnLst/>
              <a:rect r="r" b="b" t="t" l="l"/>
              <a:pathLst>
                <a:path h="330422" w="1004980">
                  <a:moveTo>
                    <a:pt x="0" y="0"/>
                  </a:moveTo>
                  <a:lnTo>
                    <a:pt x="1004980" y="0"/>
                  </a:lnTo>
                  <a:lnTo>
                    <a:pt x="1004980" y="330422"/>
                  </a:lnTo>
                  <a:lnTo>
                    <a:pt x="0" y="330422"/>
                  </a:lnTo>
                  <a:close/>
                </a:path>
              </a:pathLst>
            </a:custGeom>
            <a:solidFill>
              <a:srgbClr val="334BA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004980" cy="397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8686" y="3755869"/>
            <a:ext cx="8535314" cy="4780733"/>
            <a:chOff x="0" y="0"/>
            <a:chExt cx="1512282" cy="8470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12282" cy="847047"/>
            </a:xfrm>
            <a:custGeom>
              <a:avLst/>
              <a:gdLst/>
              <a:ahLst/>
              <a:cxnLst/>
              <a:rect r="r" b="b" t="t" l="l"/>
              <a:pathLst>
                <a:path h="847047" w="1512282">
                  <a:moveTo>
                    <a:pt x="54423" y="0"/>
                  </a:moveTo>
                  <a:lnTo>
                    <a:pt x="1457859" y="0"/>
                  </a:lnTo>
                  <a:cubicBezTo>
                    <a:pt x="1472293" y="0"/>
                    <a:pt x="1486135" y="5734"/>
                    <a:pt x="1496342" y="15940"/>
                  </a:cubicBezTo>
                  <a:cubicBezTo>
                    <a:pt x="1506548" y="26146"/>
                    <a:pt x="1512282" y="39989"/>
                    <a:pt x="1512282" y="54423"/>
                  </a:cubicBezTo>
                  <a:lnTo>
                    <a:pt x="1512282" y="792624"/>
                  </a:lnTo>
                  <a:cubicBezTo>
                    <a:pt x="1512282" y="807058"/>
                    <a:pt x="1506548" y="820901"/>
                    <a:pt x="1496342" y="831107"/>
                  </a:cubicBezTo>
                  <a:cubicBezTo>
                    <a:pt x="1486135" y="841313"/>
                    <a:pt x="1472293" y="847047"/>
                    <a:pt x="1457859" y="847047"/>
                  </a:cubicBezTo>
                  <a:lnTo>
                    <a:pt x="54423" y="847047"/>
                  </a:lnTo>
                  <a:cubicBezTo>
                    <a:pt x="39989" y="847047"/>
                    <a:pt x="26146" y="841313"/>
                    <a:pt x="15940" y="831107"/>
                  </a:cubicBezTo>
                  <a:cubicBezTo>
                    <a:pt x="5734" y="820901"/>
                    <a:pt x="0" y="807058"/>
                    <a:pt x="0" y="792624"/>
                  </a:cubicBezTo>
                  <a:lnTo>
                    <a:pt x="0" y="54423"/>
                  </a:lnTo>
                  <a:cubicBezTo>
                    <a:pt x="0" y="39989"/>
                    <a:pt x="5734" y="26146"/>
                    <a:pt x="15940" y="15940"/>
                  </a:cubicBezTo>
                  <a:cubicBezTo>
                    <a:pt x="26146" y="5734"/>
                    <a:pt x="39989" y="0"/>
                    <a:pt x="54423" y="0"/>
                  </a:cubicBezTo>
                  <a:close/>
                </a:path>
              </a:pathLst>
            </a:custGeom>
            <a:blipFill>
              <a:blip r:embed="rId6"/>
              <a:stretch>
                <a:fillRect l="-1623" t="0" r="-1623" b="0"/>
              </a:stretch>
            </a:blipFill>
            <a:ln w="95250" cap="rnd">
              <a:gradFill>
                <a:gsLst>
                  <a:gs pos="0">
                    <a:srgbClr val="334BAE">
                      <a:alpha val="100000"/>
                    </a:srgbClr>
                  </a:gs>
                  <a:gs pos="100000">
                    <a:srgbClr val="A1B1F7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5400000">
            <a:off x="-819827" y="-2930721"/>
            <a:ext cx="7315200" cy="2221000"/>
          </a:xfrm>
          <a:custGeom>
            <a:avLst/>
            <a:gdLst/>
            <a:ahLst/>
            <a:cxnLst/>
            <a:rect r="r" b="b" t="t" l="l"/>
            <a:pathLst>
              <a:path h="2221000" w="7315200">
                <a:moveTo>
                  <a:pt x="0" y="0"/>
                </a:moveTo>
                <a:lnTo>
                  <a:pt x="7315200" y="0"/>
                </a:lnTo>
                <a:lnTo>
                  <a:pt x="7315200" y="2221000"/>
                </a:lnTo>
                <a:lnTo>
                  <a:pt x="0" y="2221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0691" y="0"/>
            <a:ext cx="1438181" cy="1254571"/>
            <a:chOff x="0" y="0"/>
            <a:chExt cx="378780" cy="3304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8780" cy="330422"/>
            </a:xfrm>
            <a:custGeom>
              <a:avLst/>
              <a:gdLst/>
              <a:ahLst/>
              <a:cxnLst/>
              <a:rect r="r" b="b" t="t" l="l"/>
              <a:pathLst>
                <a:path h="330422" w="378780">
                  <a:moveTo>
                    <a:pt x="0" y="0"/>
                  </a:moveTo>
                  <a:lnTo>
                    <a:pt x="378780" y="0"/>
                  </a:lnTo>
                  <a:lnTo>
                    <a:pt x="378780" y="330422"/>
                  </a:lnTo>
                  <a:lnTo>
                    <a:pt x="0" y="330422"/>
                  </a:lnTo>
                  <a:close/>
                </a:path>
              </a:pathLst>
            </a:custGeom>
            <a:solidFill>
              <a:srgbClr val="334BA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378780" cy="397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565398" y="477930"/>
            <a:ext cx="1081512" cy="1101540"/>
          </a:xfrm>
          <a:custGeom>
            <a:avLst/>
            <a:gdLst/>
            <a:ahLst/>
            <a:cxnLst/>
            <a:rect r="r" b="b" t="t" l="l"/>
            <a:pathLst>
              <a:path h="1101540" w="1081512">
                <a:moveTo>
                  <a:pt x="0" y="0"/>
                </a:moveTo>
                <a:lnTo>
                  <a:pt x="1081511" y="0"/>
                </a:lnTo>
                <a:lnTo>
                  <a:pt x="1081511" y="1101540"/>
                </a:lnTo>
                <a:lnTo>
                  <a:pt x="0" y="11015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5400000">
            <a:off x="2522521" y="8434477"/>
            <a:ext cx="425110" cy="2015607"/>
          </a:xfrm>
          <a:custGeom>
            <a:avLst/>
            <a:gdLst/>
            <a:ahLst/>
            <a:cxnLst/>
            <a:rect r="r" b="b" t="t" l="l"/>
            <a:pathLst>
              <a:path h="2015607" w="425110">
                <a:moveTo>
                  <a:pt x="0" y="0"/>
                </a:moveTo>
                <a:lnTo>
                  <a:pt x="425110" y="0"/>
                </a:lnTo>
                <a:lnTo>
                  <a:pt x="425110" y="2015606"/>
                </a:lnTo>
                <a:lnTo>
                  <a:pt x="0" y="20156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9494202" y="3755869"/>
            <a:ext cx="8535314" cy="4780733"/>
            <a:chOff x="0" y="0"/>
            <a:chExt cx="1512282" cy="84704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12282" cy="847047"/>
            </a:xfrm>
            <a:custGeom>
              <a:avLst/>
              <a:gdLst/>
              <a:ahLst/>
              <a:cxnLst/>
              <a:rect r="r" b="b" t="t" l="l"/>
              <a:pathLst>
                <a:path h="847047" w="1512282">
                  <a:moveTo>
                    <a:pt x="54423" y="0"/>
                  </a:moveTo>
                  <a:lnTo>
                    <a:pt x="1457859" y="0"/>
                  </a:lnTo>
                  <a:cubicBezTo>
                    <a:pt x="1472293" y="0"/>
                    <a:pt x="1486135" y="5734"/>
                    <a:pt x="1496342" y="15940"/>
                  </a:cubicBezTo>
                  <a:cubicBezTo>
                    <a:pt x="1506548" y="26146"/>
                    <a:pt x="1512282" y="39989"/>
                    <a:pt x="1512282" y="54423"/>
                  </a:cubicBezTo>
                  <a:lnTo>
                    <a:pt x="1512282" y="792624"/>
                  </a:lnTo>
                  <a:cubicBezTo>
                    <a:pt x="1512282" y="807058"/>
                    <a:pt x="1506548" y="820901"/>
                    <a:pt x="1496342" y="831107"/>
                  </a:cubicBezTo>
                  <a:cubicBezTo>
                    <a:pt x="1486135" y="841313"/>
                    <a:pt x="1472293" y="847047"/>
                    <a:pt x="1457859" y="847047"/>
                  </a:cubicBezTo>
                  <a:lnTo>
                    <a:pt x="54423" y="847047"/>
                  </a:lnTo>
                  <a:cubicBezTo>
                    <a:pt x="39989" y="847047"/>
                    <a:pt x="26146" y="841313"/>
                    <a:pt x="15940" y="831107"/>
                  </a:cubicBezTo>
                  <a:cubicBezTo>
                    <a:pt x="5734" y="820901"/>
                    <a:pt x="0" y="807058"/>
                    <a:pt x="0" y="792624"/>
                  </a:cubicBezTo>
                  <a:lnTo>
                    <a:pt x="0" y="54423"/>
                  </a:lnTo>
                  <a:cubicBezTo>
                    <a:pt x="0" y="39989"/>
                    <a:pt x="5734" y="26146"/>
                    <a:pt x="15940" y="15940"/>
                  </a:cubicBezTo>
                  <a:cubicBezTo>
                    <a:pt x="26146" y="5734"/>
                    <a:pt x="39989" y="0"/>
                    <a:pt x="54423" y="0"/>
                  </a:cubicBezTo>
                  <a:close/>
                </a:path>
              </a:pathLst>
            </a:custGeom>
            <a:blipFill>
              <a:blip r:embed="rId11"/>
              <a:stretch>
                <a:fillRect l="-1386" t="0" r="-1386" b="0"/>
              </a:stretch>
            </a:blipFill>
            <a:ln w="95250" cap="rnd">
              <a:gradFill>
                <a:gsLst>
                  <a:gs pos="0">
                    <a:srgbClr val="334BAE">
                      <a:alpha val="100000"/>
                    </a:srgbClr>
                  </a:gs>
                  <a:gs pos="100000">
                    <a:srgbClr val="A1B1F7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3558871" y="1723079"/>
            <a:ext cx="15824909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80"/>
              </a:lnSpc>
              <a:spcBef>
                <a:spcPct val="0"/>
              </a:spcBef>
            </a:pPr>
            <a:r>
              <a:rPr lang="en-US" b="true" sz="6800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Neural Networks Results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260799" y="3158969"/>
            <a:ext cx="1231087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50"/>
              </a:lnSpc>
              <a:spcBef>
                <a:spcPct val="0"/>
              </a:spcBef>
            </a:pPr>
            <a:r>
              <a:rPr lang="en-US" b="true" sz="3500">
                <a:solidFill>
                  <a:srgbClr val="1C88CF"/>
                </a:solidFill>
                <a:latin typeface="Agrandir Bold"/>
                <a:ea typeface="Agrandir Bold"/>
                <a:cs typeface="Agrandir Bold"/>
                <a:sym typeface="Agrandir Bold"/>
              </a:rPr>
              <a:t>MSE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51587" y="3158969"/>
            <a:ext cx="1231087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50"/>
              </a:lnSpc>
              <a:spcBef>
                <a:spcPct val="0"/>
              </a:spcBef>
            </a:pPr>
            <a:r>
              <a:rPr lang="en-US" b="true" sz="3500">
                <a:solidFill>
                  <a:srgbClr val="1C88CF"/>
                </a:solidFill>
                <a:latin typeface="Agrandir Bold"/>
                <a:ea typeface="Agrandir Bold"/>
                <a:cs typeface="Agrandir Bold"/>
                <a:sym typeface="Agrandir Bold"/>
              </a:rPr>
              <a:t>MAE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273330">
            <a:off x="12415055" y="4861984"/>
            <a:ext cx="8300686" cy="8300686"/>
          </a:xfrm>
          <a:custGeom>
            <a:avLst/>
            <a:gdLst/>
            <a:ahLst/>
            <a:cxnLst/>
            <a:rect r="r" b="b" t="t" l="l"/>
            <a:pathLst>
              <a:path h="8300686" w="8300686">
                <a:moveTo>
                  <a:pt x="0" y="0"/>
                </a:moveTo>
                <a:lnTo>
                  <a:pt x="8300686" y="0"/>
                </a:lnTo>
                <a:lnTo>
                  <a:pt x="8300686" y="8300686"/>
                </a:lnTo>
                <a:lnTo>
                  <a:pt x="0" y="8300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273330">
            <a:off x="-259276" y="1472988"/>
            <a:ext cx="5988704" cy="5988704"/>
          </a:xfrm>
          <a:custGeom>
            <a:avLst/>
            <a:gdLst/>
            <a:ahLst/>
            <a:cxnLst/>
            <a:rect r="r" b="b" t="t" l="l"/>
            <a:pathLst>
              <a:path h="5988704" w="5988704">
                <a:moveTo>
                  <a:pt x="0" y="0"/>
                </a:moveTo>
                <a:lnTo>
                  <a:pt x="5988704" y="0"/>
                </a:lnTo>
                <a:lnTo>
                  <a:pt x="5988704" y="5988704"/>
                </a:lnTo>
                <a:lnTo>
                  <a:pt x="0" y="59887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14921" y="4829550"/>
            <a:ext cx="7315200" cy="2221000"/>
          </a:xfrm>
          <a:custGeom>
            <a:avLst/>
            <a:gdLst/>
            <a:ahLst/>
            <a:cxnLst/>
            <a:rect r="r" b="b" t="t" l="l"/>
            <a:pathLst>
              <a:path h="2221000" w="7315200">
                <a:moveTo>
                  <a:pt x="0" y="0"/>
                </a:moveTo>
                <a:lnTo>
                  <a:pt x="7315200" y="0"/>
                </a:lnTo>
                <a:lnTo>
                  <a:pt x="7315200" y="2221001"/>
                </a:lnTo>
                <a:lnTo>
                  <a:pt x="0" y="2221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982266" y="6487504"/>
            <a:ext cx="3815785" cy="1254571"/>
            <a:chOff x="0" y="0"/>
            <a:chExt cx="1004980" cy="3304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04980" cy="330422"/>
            </a:xfrm>
            <a:custGeom>
              <a:avLst/>
              <a:gdLst/>
              <a:ahLst/>
              <a:cxnLst/>
              <a:rect r="r" b="b" t="t" l="l"/>
              <a:pathLst>
                <a:path h="330422" w="1004980">
                  <a:moveTo>
                    <a:pt x="0" y="0"/>
                  </a:moveTo>
                  <a:lnTo>
                    <a:pt x="1004980" y="0"/>
                  </a:lnTo>
                  <a:lnTo>
                    <a:pt x="1004980" y="330422"/>
                  </a:lnTo>
                  <a:lnTo>
                    <a:pt x="0" y="330422"/>
                  </a:lnTo>
                  <a:close/>
                </a:path>
              </a:pathLst>
            </a:custGeom>
            <a:solidFill>
              <a:srgbClr val="334BA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004980" cy="397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981817" y="3046878"/>
            <a:ext cx="12730057" cy="6881253"/>
            <a:chOff x="0" y="0"/>
            <a:chExt cx="1512282" cy="8174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12282" cy="817466"/>
            </a:xfrm>
            <a:custGeom>
              <a:avLst/>
              <a:gdLst/>
              <a:ahLst/>
              <a:cxnLst/>
              <a:rect r="r" b="b" t="t" l="l"/>
              <a:pathLst>
                <a:path h="817466" w="1512282">
                  <a:moveTo>
                    <a:pt x="36490" y="0"/>
                  </a:moveTo>
                  <a:lnTo>
                    <a:pt x="1475792" y="0"/>
                  </a:lnTo>
                  <a:cubicBezTo>
                    <a:pt x="1495945" y="0"/>
                    <a:pt x="1512282" y="16337"/>
                    <a:pt x="1512282" y="36490"/>
                  </a:cubicBezTo>
                  <a:lnTo>
                    <a:pt x="1512282" y="780977"/>
                  </a:lnTo>
                  <a:cubicBezTo>
                    <a:pt x="1512282" y="801129"/>
                    <a:pt x="1495945" y="817466"/>
                    <a:pt x="1475792" y="817466"/>
                  </a:cubicBezTo>
                  <a:lnTo>
                    <a:pt x="36490" y="817466"/>
                  </a:lnTo>
                  <a:cubicBezTo>
                    <a:pt x="16337" y="817466"/>
                    <a:pt x="0" y="801129"/>
                    <a:pt x="0" y="780977"/>
                  </a:cubicBezTo>
                  <a:lnTo>
                    <a:pt x="0" y="36490"/>
                  </a:lnTo>
                  <a:cubicBezTo>
                    <a:pt x="0" y="16337"/>
                    <a:pt x="16337" y="0"/>
                    <a:pt x="3649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80" r="0" b="-180"/>
              </a:stretch>
            </a:blipFill>
            <a:ln w="95250" cap="rnd">
              <a:gradFill>
                <a:gsLst>
                  <a:gs pos="0">
                    <a:srgbClr val="334BAE">
                      <a:alpha val="100000"/>
                    </a:srgbClr>
                  </a:gs>
                  <a:gs pos="100000">
                    <a:srgbClr val="A1B1F7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5400000">
            <a:off x="-819827" y="-2930721"/>
            <a:ext cx="7315200" cy="2221000"/>
          </a:xfrm>
          <a:custGeom>
            <a:avLst/>
            <a:gdLst/>
            <a:ahLst/>
            <a:cxnLst/>
            <a:rect r="r" b="b" t="t" l="l"/>
            <a:pathLst>
              <a:path h="2221000" w="7315200">
                <a:moveTo>
                  <a:pt x="0" y="0"/>
                </a:moveTo>
                <a:lnTo>
                  <a:pt x="7315200" y="0"/>
                </a:lnTo>
                <a:lnTo>
                  <a:pt x="7315200" y="2221000"/>
                </a:lnTo>
                <a:lnTo>
                  <a:pt x="0" y="2221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0691" y="0"/>
            <a:ext cx="1438181" cy="1254571"/>
            <a:chOff x="0" y="0"/>
            <a:chExt cx="378780" cy="3304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8780" cy="330422"/>
            </a:xfrm>
            <a:custGeom>
              <a:avLst/>
              <a:gdLst/>
              <a:ahLst/>
              <a:cxnLst/>
              <a:rect r="r" b="b" t="t" l="l"/>
              <a:pathLst>
                <a:path h="330422" w="378780">
                  <a:moveTo>
                    <a:pt x="0" y="0"/>
                  </a:moveTo>
                  <a:lnTo>
                    <a:pt x="378780" y="0"/>
                  </a:lnTo>
                  <a:lnTo>
                    <a:pt x="378780" y="330422"/>
                  </a:lnTo>
                  <a:lnTo>
                    <a:pt x="0" y="330422"/>
                  </a:lnTo>
                  <a:close/>
                </a:path>
              </a:pathLst>
            </a:custGeom>
            <a:solidFill>
              <a:srgbClr val="334BA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378780" cy="397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565398" y="477930"/>
            <a:ext cx="1081512" cy="1101540"/>
          </a:xfrm>
          <a:custGeom>
            <a:avLst/>
            <a:gdLst/>
            <a:ahLst/>
            <a:cxnLst/>
            <a:rect r="r" b="b" t="t" l="l"/>
            <a:pathLst>
              <a:path h="1101540" w="1081512">
                <a:moveTo>
                  <a:pt x="0" y="0"/>
                </a:moveTo>
                <a:lnTo>
                  <a:pt x="1081511" y="0"/>
                </a:lnTo>
                <a:lnTo>
                  <a:pt x="1081511" y="1101540"/>
                </a:lnTo>
                <a:lnTo>
                  <a:pt x="0" y="11015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5400000">
            <a:off x="2522521" y="8434477"/>
            <a:ext cx="425110" cy="2015607"/>
          </a:xfrm>
          <a:custGeom>
            <a:avLst/>
            <a:gdLst/>
            <a:ahLst/>
            <a:cxnLst/>
            <a:rect r="r" b="b" t="t" l="l"/>
            <a:pathLst>
              <a:path h="2015607" w="425110">
                <a:moveTo>
                  <a:pt x="0" y="0"/>
                </a:moveTo>
                <a:lnTo>
                  <a:pt x="425110" y="0"/>
                </a:lnTo>
                <a:lnTo>
                  <a:pt x="425110" y="2015606"/>
                </a:lnTo>
                <a:lnTo>
                  <a:pt x="0" y="20156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334291" y="1723079"/>
            <a:ext cx="12580530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80"/>
              </a:lnSpc>
              <a:spcBef>
                <a:spcPct val="0"/>
              </a:spcBef>
            </a:pPr>
            <a:r>
              <a:rPr lang="en-US" b="true" sz="6800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Pre</a:t>
            </a:r>
            <a:r>
              <a:rPr lang="en-US" b="true" sz="6800" strike="noStrike" u="none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dictio</a:t>
            </a:r>
            <a:r>
              <a:rPr lang="en-US" b="true" sz="6800" strike="noStrike" u="none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ns</a:t>
            </a:r>
            <a:r>
              <a:rPr lang="en-US" b="true" sz="6800" strike="noStrike" u="none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 vs actual values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273330">
            <a:off x="7036099" y="3791410"/>
            <a:ext cx="5460105" cy="5460105"/>
          </a:xfrm>
          <a:custGeom>
            <a:avLst/>
            <a:gdLst/>
            <a:ahLst/>
            <a:cxnLst/>
            <a:rect r="r" b="b" t="t" l="l"/>
            <a:pathLst>
              <a:path h="5460105" w="5460105">
                <a:moveTo>
                  <a:pt x="0" y="0"/>
                </a:moveTo>
                <a:lnTo>
                  <a:pt x="5460105" y="0"/>
                </a:lnTo>
                <a:lnTo>
                  <a:pt x="5460105" y="5460104"/>
                </a:lnTo>
                <a:lnTo>
                  <a:pt x="0" y="5460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273330">
            <a:off x="11787071" y="3858117"/>
            <a:ext cx="8300686" cy="8300686"/>
          </a:xfrm>
          <a:custGeom>
            <a:avLst/>
            <a:gdLst/>
            <a:ahLst/>
            <a:cxnLst/>
            <a:rect r="r" b="b" t="t" l="l"/>
            <a:pathLst>
              <a:path h="8300686" w="8300686">
                <a:moveTo>
                  <a:pt x="0" y="0"/>
                </a:moveTo>
                <a:lnTo>
                  <a:pt x="8300686" y="0"/>
                </a:lnTo>
                <a:lnTo>
                  <a:pt x="8300686" y="8300686"/>
                </a:lnTo>
                <a:lnTo>
                  <a:pt x="0" y="8300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10463851">
            <a:off x="-4738643" y="-1690880"/>
            <a:ext cx="11217039" cy="7422284"/>
          </a:xfrm>
          <a:custGeom>
            <a:avLst/>
            <a:gdLst/>
            <a:ahLst/>
            <a:cxnLst/>
            <a:rect r="r" b="b" t="t" l="l"/>
            <a:pathLst>
              <a:path h="7422284" w="11217039">
                <a:moveTo>
                  <a:pt x="11217039" y="0"/>
                </a:moveTo>
                <a:lnTo>
                  <a:pt x="0" y="0"/>
                </a:lnTo>
                <a:lnTo>
                  <a:pt x="0" y="7422284"/>
                </a:lnTo>
                <a:lnTo>
                  <a:pt x="11217039" y="7422284"/>
                </a:lnTo>
                <a:lnTo>
                  <a:pt x="112170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07210" y="2413512"/>
            <a:ext cx="17081960" cy="3275981"/>
            <a:chOff x="0" y="0"/>
            <a:chExt cx="2030275" cy="3893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0275" cy="389377"/>
            </a:xfrm>
            <a:custGeom>
              <a:avLst/>
              <a:gdLst/>
              <a:ahLst/>
              <a:cxnLst/>
              <a:rect r="r" b="b" t="t" l="l"/>
              <a:pathLst>
                <a:path h="389377" w="2030275">
                  <a:moveTo>
                    <a:pt x="2030275" y="9064"/>
                  </a:moveTo>
                  <a:lnTo>
                    <a:pt x="2030275" y="380312"/>
                  </a:lnTo>
                  <a:cubicBezTo>
                    <a:pt x="2030275" y="385319"/>
                    <a:pt x="2026217" y="389377"/>
                    <a:pt x="2021211" y="389377"/>
                  </a:cubicBezTo>
                  <a:lnTo>
                    <a:pt x="9064" y="389377"/>
                  </a:lnTo>
                  <a:cubicBezTo>
                    <a:pt x="4058" y="389377"/>
                    <a:pt x="0" y="385319"/>
                    <a:pt x="0" y="380312"/>
                  </a:cubicBezTo>
                  <a:lnTo>
                    <a:pt x="0" y="9064"/>
                  </a:lnTo>
                  <a:cubicBezTo>
                    <a:pt x="0" y="4058"/>
                    <a:pt x="4058" y="0"/>
                    <a:pt x="9064" y="0"/>
                  </a:cubicBezTo>
                  <a:lnTo>
                    <a:pt x="2021211" y="0"/>
                  </a:lnTo>
                  <a:cubicBezTo>
                    <a:pt x="2023615" y="0"/>
                    <a:pt x="2025921" y="955"/>
                    <a:pt x="2027620" y="2655"/>
                  </a:cubicBezTo>
                  <a:cubicBezTo>
                    <a:pt x="2029320" y="4355"/>
                    <a:pt x="2030275" y="6660"/>
                    <a:pt x="2030275" y="9064"/>
                  </a:cubicBezTo>
                  <a:close/>
                </a:path>
              </a:pathLst>
            </a:custGeom>
            <a:solidFill>
              <a:srgbClr val="334BA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030275" cy="446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2714154"/>
            <a:ext cx="821567" cy="821567"/>
          </a:xfrm>
          <a:custGeom>
            <a:avLst/>
            <a:gdLst/>
            <a:ahLst/>
            <a:cxnLst/>
            <a:rect r="r" b="b" t="t" l="l"/>
            <a:pathLst>
              <a:path h="821567" w="821567">
                <a:moveTo>
                  <a:pt x="0" y="0"/>
                </a:moveTo>
                <a:lnTo>
                  <a:pt x="821567" y="0"/>
                </a:lnTo>
                <a:lnTo>
                  <a:pt x="821567" y="821566"/>
                </a:lnTo>
                <a:lnTo>
                  <a:pt x="0" y="8215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3771454" y="-651110"/>
            <a:ext cx="6003024" cy="4114800"/>
          </a:xfrm>
          <a:custGeom>
            <a:avLst/>
            <a:gdLst/>
            <a:ahLst/>
            <a:cxnLst/>
            <a:rect r="r" b="b" t="t" l="l"/>
            <a:pathLst>
              <a:path h="4114800" w="6003024">
                <a:moveTo>
                  <a:pt x="0" y="0"/>
                </a:moveTo>
                <a:lnTo>
                  <a:pt x="6003024" y="0"/>
                </a:lnTo>
                <a:lnTo>
                  <a:pt x="60030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2700000">
            <a:off x="17669919" y="272232"/>
            <a:ext cx="1434036" cy="1512936"/>
            <a:chOff x="0" y="0"/>
            <a:chExt cx="377689" cy="3984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7689" cy="398469"/>
            </a:xfrm>
            <a:custGeom>
              <a:avLst/>
              <a:gdLst/>
              <a:ahLst/>
              <a:cxnLst/>
              <a:rect r="r" b="b" t="t" l="l"/>
              <a:pathLst>
                <a:path h="398469" w="377689">
                  <a:moveTo>
                    <a:pt x="0" y="0"/>
                  </a:moveTo>
                  <a:lnTo>
                    <a:pt x="377689" y="0"/>
                  </a:lnTo>
                  <a:lnTo>
                    <a:pt x="377689" y="398469"/>
                  </a:lnTo>
                  <a:lnTo>
                    <a:pt x="0" y="398469"/>
                  </a:lnTo>
                  <a:close/>
                </a:path>
              </a:pathLst>
            </a:custGeom>
            <a:solidFill>
              <a:srgbClr val="334BA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377689" cy="465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2700000">
            <a:off x="16325897" y="-245055"/>
            <a:ext cx="501907" cy="583443"/>
            <a:chOff x="0" y="0"/>
            <a:chExt cx="132189" cy="1536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2189" cy="153664"/>
            </a:xfrm>
            <a:custGeom>
              <a:avLst/>
              <a:gdLst/>
              <a:ahLst/>
              <a:cxnLst/>
              <a:rect r="r" b="b" t="t" l="l"/>
              <a:pathLst>
                <a:path h="153664" w="132189">
                  <a:moveTo>
                    <a:pt x="0" y="0"/>
                  </a:moveTo>
                  <a:lnTo>
                    <a:pt x="132189" y="0"/>
                  </a:lnTo>
                  <a:lnTo>
                    <a:pt x="132189" y="153664"/>
                  </a:lnTo>
                  <a:lnTo>
                    <a:pt x="0" y="153664"/>
                  </a:lnTo>
                  <a:close/>
                </a:path>
              </a:pathLst>
            </a:custGeom>
            <a:solidFill>
              <a:srgbClr val="334BA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32189" cy="2203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-5400000">
            <a:off x="-23737" y="8017281"/>
            <a:ext cx="5406668" cy="5406668"/>
          </a:xfrm>
          <a:custGeom>
            <a:avLst/>
            <a:gdLst/>
            <a:ahLst/>
            <a:cxnLst/>
            <a:rect r="r" b="b" t="t" l="l"/>
            <a:pathLst>
              <a:path h="5406668" w="5406668">
                <a:moveTo>
                  <a:pt x="0" y="0"/>
                </a:moveTo>
                <a:lnTo>
                  <a:pt x="5406668" y="0"/>
                </a:lnTo>
                <a:lnTo>
                  <a:pt x="5406668" y="5406668"/>
                </a:lnTo>
                <a:lnTo>
                  <a:pt x="0" y="54066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-5400000">
            <a:off x="-369508" y="9777783"/>
            <a:ext cx="1957931" cy="1218914"/>
            <a:chOff x="0" y="0"/>
            <a:chExt cx="515669" cy="3210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5669" cy="321031"/>
            </a:xfrm>
            <a:custGeom>
              <a:avLst/>
              <a:gdLst/>
              <a:ahLst/>
              <a:cxnLst/>
              <a:rect r="r" b="b" t="t" l="l"/>
              <a:pathLst>
                <a:path h="321031" w="515669">
                  <a:moveTo>
                    <a:pt x="0" y="0"/>
                  </a:moveTo>
                  <a:lnTo>
                    <a:pt x="515669" y="0"/>
                  </a:lnTo>
                  <a:lnTo>
                    <a:pt x="515669" y="321031"/>
                  </a:lnTo>
                  <a:lnTo>
                    <a:pt x="0" y="321031"/>
                  </a:lnTo>
                  <a:close/>
                </a:path>
              </a:pathLst>
            </a:custGeom>
            <a:solidFill>
              <a:srgbClr val="334BA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515669" cy="387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4717247" y="208905"/>
            <a:ext cx="442980" cy="442980"/>
          </a:xfrm>
          <a:custGeom>
            <a:avLst/>
            <a:gdLst/>
            <a:ahLst/>
            <a:cxnLst/>
            <a:rect r="r" b="b" t="t" l="l"/>
            <a:pathLst>
              <a:path h="442980" w="442980">
                <a:moveTo>
                  <a:pt x="0" y="0"/>
                </a:moveTo>
                <a:lnTo>
                  <a:pt x="442980" y="0"/>
                </a:lnTo>
                <a:lnTo>
                  <a:pt x="442980" y="442980"/>
                </a:lnTo>
                <a:lnTo>
                  <a:pt x="0" y="442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85720" y="8080892"/>
            <a:ext cx="442980" cy="442980"/>
          </a:xfrm>
          <a:custGeom>
            <a:avLst/>
            <a:gdLst/>
            <a:ahLst/>
            <a:cxnLst/>
            <a:rect r="r" b="b" t="t" l="l"/>
            <a:pathLst>
              <a:path h="442980" w="442980">
                <a:moveTo>
                  <a:pt x="0" y="0"/>
                </a:moveTo>
                <a:lnTo>
                  <a:pt x="442980" y="0"/>
                </a:lnTo>
                <a:lnTo>
                  <a:pt x="442980" y="442980"/>
                </a:lnTo>
                <a:lnTo>
                  <a:pt x="0" y="442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869876" y="876627"/>
            <a:ext cx="11037905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80"/>
              </a:lnSpc>
              <a:spcBef>
                <a:spcPct val="0"/>
              </a:spcBef>
            </a:pPr>
            <a:r>
              <a:rPr lang="en-US" b="true" sz="6800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Deployment Ar</a:t>
            </a:r>
            <a:r>
              <a:rPr lang="en-US" b="true" sz="6800" strike="noStrike" u="none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chit</a:t>
            </a:r>
            <a:r>
              <a:rPr lang="en-US" b="true" sz="6800" strike="noStrike" u="none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ecture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84641" y="2862420"/>
            <a:ext cx="7681511" cy="2402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How Deployment</a:t>
            </a:r>
            <a:r>
              <a:rPr lang="en-US" b="true" sz="3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Works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 enters order details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passes through saved LabelEncoders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is ordered using "feature_order.joblib"</a:t>
            </a:r>
          </a:p>
          <a:p>
            <a:pPr algn="ctr">
              <a:lnSpc>
                <a:spcPts val="3639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0004277" y="3048737"/>
            <a:ext cx="8521848" cy="299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4697" indent="-262348" lvl="1">
              <a:lnSpc>
                <a:spcPts val="3402"/>
              </a:lnSpc>
              <a:buFont typeface="Arial"/>
              <a:buChar char="•"/>
            </a:pPr>
            <a:r>
              <a:rPr lang="en-US" sz="24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Model-specific</a:t>
            </a:r>
            <a:r>
              <a:rPr lang="en-US" sz="24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preprocessing is applied</a:t>
            </a:r>
          </a:p>
          <a:p>
            <a:pPr algn="l" marL="1049393" indent="-349798" lvl="2">
              <a:lnSpc>
                <a:spcPts val="3402"/>
              </a:lnSpc>
              <a:buFont typeface="Arial"/>
              <a:buChar char="⚬"/>
            </a:pPr>
            <a:r>
              <a:rPr lang="en-US" sz="24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RF &amp; </a:t>
            </a:r>
            <a:r>
              <a:rPr lang="en-US" sz="24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DT: raw features</a:t>
            </a:r>
          </a:p>
          <a:p>
            <a:pPr algn="l" marL="1049393" indent="-349798" lvl="2">
              <a:lnSpc>
                <a:spcPts val="3402"/>
              </a:lnSpc>
              <a:buFont typeface="Arial"/>
              <a:buChar char="⚬"/>
            </a:pPr>
            <a:r>
              <a:rPr lang="en-US" sz="24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SVR: scaled with standard_scaler_sklearn</a:t>
            </a:r>
          </a:p>
          <a:p>
            <a:pPr algn="l" marL="1049393" indent="-349798" lvl="2">
              <a:lnSpc>
                <a:spcPts val="3402"/>
              </a:lnSpc>
              <a:buFont typeface="Arial"/>
              <a:buChar char="⚬"/>
            </a:pPr>
            <a:r>
              <a:rPr lang="en-US" sz="24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NN: separate scalers for X and y</a:t>
            </a:r>
          </a:p>
          <a:p>
            <a:pPr algn="l" marL="524697" indent="-262348" lvl="1">
              <a:lnSpc>
                <a:spcPts val="3402"/>
              </a:lnSpc>
              <a:buFont typeface="Arial"/>
              <a:buChar char="•"/>
            </a:pPr>
            <a:r>
              <a:rPr lang="en-US" sz="24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Predictions generated from 4 models</a:t>
            </a:r>
          </a:p>
          <a:p>
            <a:pPr algn="l" marL="524697" indent="-262348" lvl="1">
              <a:lnSpc>
                <a:spcPts val="3402"/>
              </a:lnSpc>
              <a:buFont typeface="Arial"/>
              <a:buChar char="•"/>
            </a:pPr>
            <a:r>
              <a:rPr lang="en-US" sz="24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Streamlit displays results</a:t>
            </a:r>
          </a:p>
          <a:p>
            <a:pPr algn="ctr">
              <a:lnSpc>
                <a:spcPts val="3402"/>
              </a:lnSpc>
            </a:pPr>
          </a:p>
        </p:txBody>
      </p:sp>
      <p:grpSp>
        <p:nvGrpSpPr>
          <p:cNvPr name="Group 25" id="25"/>
          <p:cNvGrpSpPr/>
          <p:nvPr/>
        </p:nvGrpSpPr>
        <p:grpSpPr>
          <a:xfrm rot="0">
            <a:off x="3199683" y="5933050"/>
            <a:ext cx="12359681" cy="4150819"/>
            <a:chOff x="0" y="0"/>
            <a:chExt cx="3066911" cy="102997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066911" cy="1029977"/>
            </a:xfrm>
            <a:custGeom>
              <a:avLst/>
              <a:gdLst/>
              <a:ahLst/>
              <a:cxnLst/>
              <a:rect r="r" b="b" t="t" l="l"/>
              <a:pathLst>
                <a:path h="1029977" w="3066911">
                  <a:moveTo>
                    <a:pt x="18792" y="0"/>
                  </a:moveTo>
                  <a:lnTo>
                    <a:pt x="3048119" y="0"/>
                  </a:lnTo>
                  <a:cubicBezTo>
                    <a:pt x="3053103" y="0"/>
                    <a:pt x="3057883" y="1980"/>
                    <a:pt x="3061407" y="5504"/>
                  </a:cubicBezTo>
                  <a:cubicBezTo>
                    <a:pt x="3064931" y="9028"/>
                    <a:pt x="3066911" y="13808"/>
                    <a:pt x="3066911" y="18792"/>
                  </a:cubicBezTo>
                  <a:lnTo>
                    <a:pt x="3066911" y="1011186"/>
                  </a:lnTo>
                  <a:cubicBezTo>
                    <a:pt x="3066911" y="1016170"/>
                    <a:pt x="3064931" y="1020949"/>
                    <a:pt x="3061407" y="1024474"/>
                  </a:cubicBezTo>
                  <a:cubicBezTo>
                    <a:pt x="3057883" y="1027998"/>
                    <a:pt x="3053103" y="1029977"/>
                    <a:pt x="3048119" y="1029977"/>
                  </a:cubicBezTo>
                  <a:lnTo>
                    <a:pt x="18792" y="1029977"/>
                  </a:lnTo>
                  <a:cubicBezTo>
                    <a:pt x="8413" y="1029977"/>
                    <a:pt x="0" y="1021564"/>
                    <a:pt x="0" y="1011186"/>
                  </a:cubicBezTo>
                  <a:lnTo>
                    <a:pt x="0" y="18792"/>
                  </a:lnTo>
                  <a:cubicBezTo>
                    <a:pt x="0" y="13808"/>
                    <a:pt x="1980" y="9028"/>
                    <a:pt x="5504" y="5504"/>
                  </a:cubicBezTo>
                  <a:cubicBezTo>
                    <a:pt x="9028" y="1980"/>
                    <a:pt x="13808" y="0"/>
                    <a:pt x="18792" y="0"/>
                  </a:cubicBezTo>
                  <a:close/>
                </a:path>
              </a:pathLst>
            </a:custGeom>
            <a:blipFill>
              <a:blip r:embed="rId14"/>
              <a:stretch>
                <a:fillRect l="0" t="-3969" r="0" b="-3969"/>
              </a:stretch>
            </a:blipFill>
            <a:ln w="95250" cap="rnd">
              <a:gradFill>
                <a:gsLst>
                  <a:gs pos="0">
                    <a:srgbClr val="334BAE">
                      <a:alpha val="100000"/>
                    </a:srgbClr>
                  </a:gs>
                  <a:gs pos="100000">
                    <a:srgbClr val="A1B1F7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</p:grp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0463851">
            <a:off x="-4738643" y="-1690880"/>
            <a:ext cx="11217039" cy="7422284"/>
          </a:xfrm>
          <a:custGeom>
            <a:avLst/>
            <a:gdLst/>
            <a:ahLst/>
            <a:cxnLst/>
            <a:rect r="r" b="b" t="t" l="l"/>
            <a:pathLst>
              <a:path h="7422284" w="11217039">
                <a:moveTo>
                  <a:pt x="11217039" y="0"/>
                </a:moveTo>
                <a:lnTo>
                  <a:pt x="0" y="0"/>
                </a:lnTo>
                <a:lnTo>
                  <a:pt x="0" y="7422284"/>
                </a:lnTo>
                <a:lnTo>
                  <a:pt x="11217039" y="7422284"/>
                </a:lnTo>
                <a:lnTo>
                  <a:pt x="112170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4096993" y="-1028700"/>
            <a:ext cx="6003024" cy="4114800"/>
          </a:xfrm>
          <a:custGeom>
            <a:avLst/>
            <a:gdLst/>
            <a:ahLst/>
            <a:cxnLst/>
            <a:rect r="r" b="b" t="t" l="l"/>
            <a:pathLst>
              <a:path h="4114800" w="6003024">
                <a:moveTo>
                  <a:pt x="0" y="0"/>
                </a:moveTo>
                <a:lnTo>
                  <a:pt x="6003024" y="0"/>
                </a:lnTo>
                <a:lnTo>
                  <a:pt x="60030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2700000">
            <a:off x="17669919" y="272232"/>
            <a:ext cx="1434036" cy="1512936"/>
            <a:chOff x="0" y="0"/>
            <a:chExt cx="377689" cy="3984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7689" cy="398469"/>
            </a:xfrm>
            <a:custGeom>
              <a:avLst/>
              <a:gdLst/>
              <a:ahLst/>
              <a:cxnLst/>
              <a:rect r="r" b="b" t="t" l="l"/>
              <a:pathLst>
                <a:path h="398469" w="377689">
                  <a:moveTo>
                    <a:pt x="0" y="0"/>
                  </a:moveTo>
                  <a:lnTo>
                    <a:pt x="377689" y="0"/>
                  </a:lnTo>
                  <a:lnTo>
                    <a:pt x="377689" y="398469"/>
                  </a:lnTo>
                  <a:lnTo>
                    <a:pt x="0" y="398469"/>
                  </a:lnTo>
                  <a:close/>
                </a:path>
              </a:pathLst>
            </a:custGeom>
            <a:solidFill>
              <a:srgbClr val="334BA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377689" cy="465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2700000">
            <a:off x="16325897" y="-245055"/>
            <a:ext cx="501907" cy="583443"/>
            <a:chOff x="0" y="0"/>
            <a:chExt cx="132189" cy="1536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2189" cy="153664"/>
            </a:xfrm>
            <a:custGeom>
              <a:avLst/>
              <a:gdLst/>
              <a:ahLst/>
              <a:cxnLst/>
              <a:rect r="r" b="b" t="t" l="l"/>
              <a:pathLst>
                <a:path h="153664" w="132189">
                  <a:moveTo>
                    <a:pt x="0" y="0"/>
                  </a:moveTo>
                  <a:lnTo>
                    <a:pt x="132189" y="0"/>
                  </a:lnTo>
                  <a:lnTo>
                    <a:pt x="132189" y="153664"/>
                  </a:lnTo>
                  <a:lnTo>
                    <a:pt x="0" y="153664"/>
                  </a:lnTo>
                  <a:close/>
                </a:path>
              </a:pathLst>
            </a:custGeom>
            <a:solidFill>
              <a:srgbClr val="334BA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32189" cy="2203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5400000">
            <a:off x="-23737" y="8017281"/>
            <a:ext cx="5406668" cy="5406668"/>
          </a:xfrm>
          <a:custGeom>
            <a:avLst/>
            <a:gdLst/>
            <a:ahLst/>
            <a:cxnLst/>
            <a:rect r="r" b="b" t="t" l="l"/>
            <a:pathLst>
              <a:path h="5406668" w="5406668">
                <a:moveTo>
                  <a:pt x="0" y="0"/>
                </a:moveTo>
                <a:lnTo>
                  <a:pt x="5406668" y="0"/>
                </a:lnTo>
                <a:lnTo>
                  <a:pt x="5406668" y="5406668"/>
                </a:lnTo>
                <a:lnTo>
                  <a:pt x="0" y="54066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5400000">
            <a:off x="-369508" y="9777783"/>
            <a:ext cx="1957931" cy="1218914"/>
            <a:chOff x="0" y="0"/>
            <a:chExt cx="515669" cy="3210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5669" cy="321031"/>
            </a:xfrm>
            <a:custGeom>
              <a:avLst/>
              <a:gdLst/>
              <a:ahLst/>
              <a:cxnLst/>
              <a:rect r="r" b="b" t="t" l="l"/>
              <a:pathLst>
                <a:path h="321031" w="515669">
                  <a:moveTo>
                    <a:pt x="0" y="0"/>
                  </a:moveTo>
                  <a:lnTo>
                    <a:pt x="515669" y="0"/>
                  </a:lnTo>
                  <a:lnTo>
                    <a:pt x="515669" y="321031"/>
                  </a:lnTo>
                  <a:lnTo>
                    <a:pt x="0" y="321031"/>
                  </a:lnTo>
                  <a:close/>
                </a:path>
              </a:pathLst>
            </a:custGeom>
            <a:solidFill>
              <a:srgbClr val="334BA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15669" cy="387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4717247" y="208905"/>
            <a:ext cx="442980" cy="442980"/>
          </a:xfrm>
          <a:custGeom>
            <a:avLst/>
            <a:gdLst/>
            <a:ahLst/>
            <a:cxnLst/>
            <a:rect r="r" b="b" t="t" l="l"/>
            <a:pathLst>
              <a:path h="442980" w="442980">
                <a:moveTo>
                  <a:pt x="0" y="0"/>
                </a:moveTo>
                <a:lnTo>
                  <a:pt x="442980" y="0"/>
                </a:lnTo>
                <a:lnTo>
                  <a:pt x="442980" y="442980"/>
                </a:lnTo>
                <a:lnTo>
                  <a:pt x="0" y="4429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85720" y="8080892"/>
            <a:ext cx="442980" cy="442980"/>
          </a:xfrm>
          <a:custGeom>
            <a:avLst/>
            <a:gdLst/>
            <a:ahLst/>
            <a:cxnLst/>
            <a:rect r="r" b="b" t="t" l="l"/>
            <a:pathLst>
              <a:path h="442980" w="442980">
                <a:moveTo>
                  <a:pt x="0" y="0"/>
                </a:moveTo>
                <a:lnTo>
                  <a:pt x="442980" y="0"/>
                </a:lnTo>
                <a:lnTo>
                  <a:pt x="442980" y="442980"/>
                </a:lnTo>
                <a:lnTo>
                  <a:pt x="0" y="4429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9988242" y="3510696"/>
            <a:ext cx="10927512" cy="4873382"/>
            <a:chOff x="0" y="0"/>
            <a:chExt cx="2878028" cy="12835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78028" cy="1283525"/>
            </a:xfrm>
            <a:custGeom>
              <a:avLst/>
              <a:gdLst/>
              <a:ahLst/>
              <a:cxnLst/>
              <a:rect r="r" b="b" t="t" l="l"/>
              <a:pathLst>
                <a:path h="1283525" w="2878028">
                  <a:moveTo>
                    <a:pt x="36132" y="0"/>
                  </a:moveTo>
                  <a:lnTo>
                    <a:pt x="2841895" y="0"/>
                  </a:lnTo>
                  <a:cubicBezTo>
                    <a:pt x="2851478" y="0"/>
                    <a:pt x="2860669" y="3807"/>
                    <a:pt x="2867445" y="10583"/>
                  </a:cubicBezTo>
                  <a:cubicBezTo>
                    <a:pt x="2874221" y="17359"/>
                    <a:pt x="2878028" y="26550"/>
                    <a:pt x="2878028" y="36132"/>
                  </a:cubicBezTo>
                  <a:lnTo>
                    <a:pt x="2878028" y="1247392"/>
                  </a:lnTo>
                  <a:cubicBezTo>
                    <a:pt x="2878028" y="1256975"/>
                    <a:pt x="2874221" y="1266165"/>
                    <a:pt x="2867445" y="1272942"/>
                  </a:cubicBezTo>
                  <a:cubicBezTo>
                    <a:pt x="2860669" y="1279718"/>
                    <a:pt x="2851478" y="1283525"/>
                    <a:pt x="2841895" y="1283525"/>
                  </a:cubicBezTo>
                  <a:lnTo>
                    <a:pt x="36132" y="1283525"/>
                  </a:lnTo>
                  <a:cubicBezTo>
                    <a:pt x="26550" y="1283525"/>
                    <a:pt x="17359" y="1279718"/>
                    <a:pt x="10583" y="1272942"/>
                  </a:cubicBezTo>
                  <a:cubicBezTo>
                    <a:pt x="3807" y="1266165"/>
                    <a:pt x="0" y="1256975"/>
                    <a:pt x="0" y="1247392"/>
                  </a:cubicBezTo>
                  <a:lnTo>
                    <a:pt x="0" y="36132"/>
                  </a:lnTo>
                  <a:cubicBezTo>
                    <a:pt x="0" y="26550"/>
                    <a:pt x="3807" y="17359"/>
                    <a:pt x="10583" y="10583"/>
                  </a:cubicBezTo>
                  <a:cubicBezTo>
                    <a:pt x="17359" y="3807"/>
                    <a:pt x="26550" y="0"/>
                    <a:pt x="36132" y="0"/>
                  </a:cubicBezTo>
                  <a:close/>
                </a:path>
              </a:pathLst>
            </a:custGeom>
            <a:solidFill>
              <a:srgbClr val="13538A">
                <a:alpha val="49804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2878028" cy="135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0326870" y="3877493"/>
            <a:ext cx="7961130" cy="4139788"/>
          </a:xfrm>
          <a:custGeom>
            <a:avLst/>
            <a:gdLst/>
            <a:ahLst/>
            <a:cxnLst/>
            <a:rect r="r" b="b" t="t" l="l"/>
            <a:pathLst>
              <a:path h="4139788" w="7961130">
                <a:moveTo>
                  <a:pt x="0" y="0"/>
                </a:moveTo>
                <a:lnTo>
                  <a:pt x="7961130" y="0"/>
                </a:lnTo>
                <a:lnTo>
                  <a:pt x="7961130" y="4139788"/>
                </a:lnTo>
                <a:lnTo>
                  <a:pt x="0" y="41397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69876" y="876627"/>
            <a:ext cx="15067538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80"/>
              </a:lnSpc>
              <a:spcBef>
                <a:spcPct val="0"/>
              </a:spcBef>
            </a:pPr>
            <a:r>
              <a:rPr lang="en-US" b="true" sz="6800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GPU A</a:t>
            </a:r>
            <a:r>
              <a:rPr lang="en-US" b="true" sz="6800" strike="noStrike" u="none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cce</a:t>
            </a:r>
            <a:r>
              <a:rPr lang="en-US" b="true" sz="6800" strike="noStrike" u="none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lera</a:t>
            </a:r>
            <a:r>
              <a:rPr lang="en-US" b="true" sz="6800" strike="noStrike" u="none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t</a:t>
            </a:r>
            <a:r>
              <a:rPr lang="en-US" b="true" sz="6800" strike="noStrike" u="none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ion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18914" y="2288540"/>
            <a:ext cx="8422086" cy="5624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334BAE"/>
                </a:solidFill>
                <a:latin typeface="Poppins Bold"/>
                <a:ea typeface="Poppins Bold"/>
                <a:cs typeface="Poppins Bold"/>
                <a:sym typeface="Poppins Bold"/>
              </a:rPr>
              <a:t>Why Use GPU?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Speeds up neural network training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Handles large matrix operations more efficiently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Allows more epochs and deeper models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Reduces overall experiment time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334BAE"/>
                </a:solidFill>
                <a:latin typeface="Poppins Bold"/>
                <a:ea typeface="Poppins Bold"/>
                <a:cs typeface="Poppins Bold"/>
                <a:sym typeface="Poppins Bold"/>
              </a:rPr>
              <a:t>How It Was Used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Google Colab GPU runtime enabled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334BAE"/>
                </a:solidFill>
                <a:latin typeface="Poppins"/>
                <a:ea typeface="Poppins"/>
                <a:cs typeface="Poppins"/>
                <a:sym typeface="Poppins"/>
              </a:rPr>
              <a:t>Runtime → Change runtime type → GPU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34B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45380" y="-901500"/>
            <a:ext cx="10283828" cy="13195268"/>
            <a:chOff x="0" y="0"/>
            <a:chExt cx="2708498" cy="34752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8498" cy="3475297"/>
            </a:xfrm>
            <a:custGeom>
              <a:avLst/>
              <a:gdLst/>
              <a:ahLst/>
              <a:cxnLst/>
              <a:rect r="r" b="b" t="t" l="l"/>
              <a:pathLst>
                <a:path h="3475297" w="2708498">
                  <a:moveTo>
                    <a:pt x="0" y="0"/>
                  </a:moveTo>
                  <a:lnTo>
                    <a:pt x="2708498" y="0"/>
                  </a:lnTo>
                  <a:lnTo>
                    <a:pt x="2708498" y="3475297"/>
                  </a:lnTo>
                  <a:lnTo>
                    <a:pt x="0" y="3475297"/>
                  </a:lnTo>
                  <a:close/>
                </a:path>
              </a:pathLst>
            </a:custGeom>
            <a:gradFill rotWithShape="true">
              <a:gsLst>
                <a:gs pos="0">
                  <a:srgbClr val="334BAE">
                    <a:alpha val="0"/>
                  </a:srgbClr>
                </a:gs>
                <a:gs pos="100000">
                  <a:srgbClr val="172975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708498" cy="3541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36985" y="8147800"/>
            <a:ext cx="7315200" cy="2221000"/>
          </a:xfrm>
          <a:custGeom>
            <a:avLst/>
            <a:gdLst/>
            <a:ahLst/>
            <a:cxnLst/>
            <a:rect r="r" b="b" t="t" l="l"/>
            <a:pathLst>
              <a:path h="2221000" w="7315200">
                <a:moveTo>
                  <a:pt x="0" y="0"/>
                </a:moveTo>
                <a:lnTo>
                  <a:pt x="7315200" y="0"/>
                </a:lnTo>
                <a:lnTo>
                  <a:pt x="7315200" y="2221000"/>
                </a:lnTo>
                <a:lnTo>
                  <a:pt x="0" y="2221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9177516">
            <a:off x="-1521244" y="-3662766"/>
            <a:ext cx="8777006" cy="15060368"/>
            <a:chOff x="0" y="0"/>
            <a:chExt cx="2311639" cy="39665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1639" cy="3966516"/>
            </a:xfrm>
            <a:custGeom>
              <a:avLst/>
              <a:gdLst/>
              <a:ahLst/>
              <a:cxnLst/>
              <a:rect r="r" b="b" t="t" l="l"/>
              <a:pathLst>
                <a:path h="3966516" w="2311639">
                  <a:moveTo>
                    <a:pt x="0" y="0"/>
                  </a:moveTo>
                  <a:lnTo>
                    <a:pt x="2311639" y="0"/>
                  </a:lnTo>
                  <a:lnTo>
                    <a:pt x="2311639" y="3966516"/>
                  </a:lnTo>
                  <a:lnTo>
                    <a:pt x="0" y="3966516"/>
                  </a:lnTo>
                  <a:close/>
                </a:path>
              </a:pathLst>
            </a:custGeom>
            <a:gradFill rotWithShape="true">
              <a:gsLst>
                <a:gs pos="0">
                  <a:srgbClr val="334BAE">
                    <a:alpha val="0"/>
                  </a:srgbClr>
                </a:gs>
                <a:gs pos="100000">
                  <a:srgbClr val="172975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311639" cy="4033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10800000">
            <a:off x="-3657600" y="0"/>
            <a:ext cx="7315200" cy="2221000"/>
          </a:xfrm>
          <a:custGeom>
            <a:avLst/>
            <a:gdLst/>
            <a:ahLst/>
            <a:cxnLst/>
            <a:rect r="r" b="b" t="t" l="l"/>
            <a:pathLst>
              <a:path h="2221000" w="7315200">
                <a:moveTo>
                  <a:pt x="0" y="0"/>
                </a:moveTo>
                <a:lnTo>
                  <a:pt x="7315200" y="0"/>
                </a:lnTo>
                <a:lnTo>
                  <a:pt x="7315200" y="2221000"/>
                </a:lnTo>
                <a:lnTo>
                  <a:pt x="0" y="2221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6572063">
            <a:off x="11681068" y="-2911823"/>
            <a:ext cx="9849240" cy="8488254"/>
          </a:xfrm>
          <a:custGeom>
            <a:avLst/>
            <a:gdLst/>
            <a:ahLst/>
            <a:cxnLst/>
            <a:rect r="r" b="b" t="t" l="l"/>
            <a:pathLst>
              <a:path h="8488254" w="9849240">
                <a:moveTo>
                  <a:pt x="0" y="0"/>
                </a:moveTo>
                <a:lnTo>
                  <a:pt x="9849240" y="0"/>
                </a:lnTo>
                <a:lnTo>
                  <a:pt x="9849240" y="8488254"/>
                </a:lnTo>
                <a:lnTo>
                  <a:pt x="0" y="84882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614189" y="3784691"/>
            <a:ext cx="10576194" cy="595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ey Achievements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Complete ML pipeline for retail sales forecasting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Strong EDA and feature engineering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Comparison of 4 different ML methods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Deployment-ready solution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Random Forest identified as most accurate model</a:t>
            </a:r>
          </a:p>
          <a:p>
            <a:pPr algn="l" marL="0" indent="0" lvl="0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Future Improvements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Hyperparameter tuning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Try XGBoost or LightGBM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 embeddings for product names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Deploy using Docker or cloud hosting</a:t>
            </a: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283209" y="2643306"/>
            <a:ext cx="6725864" cy="108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Conclusion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-177710" y="-190214"/>
            <a:ext cx="2791899" cy="1522518"/>
            <a:chOff x="0" y="0"/>
            <a:chExt cx="735315" cy="4009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5315" cy="400993"/>
            </a:xfrm>
            <a:custGeom>
              <a:avLst/>
              <a:gdLst/>
              <a:ahLst/>
              <a:cxnLst/>
              <a:rect r="r" b="b" t="t" l="l"/>
              <a:pathLst>
                <a:path h="400993" w="735315">
                  <a:moveTo>
                    <a:pt x="0" y="0"/>
                  </a:moveTo>
                  <a:lnTo>
                    <a:pt x="735315" y="0"/>
                  </a:lnTo>
                  <a:lnTo>
                    <a:pt x="735315" y="400993"/>
                  </a:lnTo>
                  <a:lnTo>
                    <a:pt x="0" y="400993"/>
                  </a:lnTo>
                  <a:close/>
                </a:path>
              </a:pathLst>
            </a:custGeom>
            <a:solidFill>
              <a:srgbClr val="A1B1F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735315" cy="467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137309" y="8981638"/>
            <a:ext cx="2791899" cy="1522518"/>
            <a:chOff x="0" y="0"/>
            <a:chExt cx="735315" cy="40099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5315" cy="400993"/>
            </a:xfrm>
            <a:custGeom>
              <a:avLst/>
              <a:gdLst/>
              <a:ahLst/>
              <a:cxnLst/>
              <a:rect r="r" b="b" t="t" l="l"/>
              <a:pathLst>
                <a:path h="400993" w="735315">
                  <a:moveTo>
                    <a:pt x="0" y="0"/>
                  </a:moveTo>
                  <a:lnTo>
                    <a:pt x="735315" y="0"/>
                  </a:lnTo>
                  <a:lnTo>
                    <a:pt x="735315" y="400993"/>
                  </a:lnTo>
                  <a:lnTo>
                    <a:pt x="0" y="400993"/>
                  </a:lnTo>
                  <a:close/>
                </a:path>
              </a:pathLst>
            </a:custGeom>
            <a:solidFill>
              <a:srgbClr val="A1B1F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735315" cy="467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9329783" y="886748"/>
            <a:ext cx="548988" cy="2602961"/>
          </a:xfrm>
          <a:custGeom>
            <a:avLst/>
            <a:gdLst/>
            <a:ahLst/>
            <a:cxnLst/>
            <a:rect r="r" b="b" t="t" l="l"/>
            <a:pathLst>
              <a:path h="2602961" w="548988">
                <a:moveTo>
                  <a:pt x="0" y="0"/>
                </a:moveTo>
                <a:lnTo>
                  <a:pt x="548988" y="0"/>
                </a:lnTo>
                <a:lnTo>
                  <a:pt x="548988" y="2602961"/>
                </a:lnTo>
                <a:lnTo>
                  <a:pt x="0" y="26029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true" flipV="false" rot="6656853">
            <a:off x="-3487500" y="3975364"/>
            <a:ext cx="9247020" cy="6118728"/>
          </a:xfrm>
          <a:custGeom>
            <a:avLst/>
            <a:gdLst/>
            <a:ahLst/>
            <a:cxnLst/>
            <a:rect r="r" b="b" t="t" l="l"/>
            <a:pathLst>
              <a:path h="6118728" w="9247020">
                <a:moveTo>
                  <a:pt x="9247020" y="0"/>
                </a:moveTo>
                <a:lnTo>
                  <a:pt x="0" y="0"/>
                </a:lnTo>
                <a:lnTo>
                  <a:pt x="0" y="6118728"/>
                </a:lnTo>
                <a:lnTo>
                  <a:pt x="9247020" y="6118728"/>
                </a:lnTo>
                <a:lnTo>
                  <a:pt x="924702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273330">
            <a:off x="6043548" y="-1396864"/>
            <a:ext cx="7333741" cy="7333741"/>
          </a:xfrm>
          <a:custGeom>
            <a:avLst/>
            <a:gdLst/>
            <a:ahLst/>
            <a:cxnLst/>
            <a:rect r="r" b="b" t="t" l="l"/>
            <a:pathLst>
              <a:path h="7333741" w="7333741">
                <a:moveTo>
                  <a:pt x="0" y="0"/>
                </a:moveTo>
                <a:lnTo>
                  <a:pt x="7333741" y="0"/>
                </a:lnTo>
                <a:lnTo>
                  <a:pt x="7333741" y="7333740"/>
                </a:lnTo>
                <a:lnTo>
                  <a:pt x="0" y="7333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273330">
            <a:off x="11348109" y="3278765"/>
            <a:ext cx="8300686" cy="8300686"/>
          </a:xfrm>
          <a:custGeom>
            <a:avLst/>
            <a:gdLst/>
            <a:ahLst/>
            <a:cxnLst/>
            <a:rect r="r" b="b" t="t" l="l"/>
            <a:pathLst>
              <a:path h="8300686" w="8300686">
                <a:moveTo>
                  <a:pt x="0" y="0"/>
                </a:moveTo>
                <a:lnTo>
                  <a:pt x="8300686" y="0"/>
                </a:lnTo>
                <a:lnTo>
                  <a:pt x="8300686" y="8300686"/>
                </a:lnTo>
                <a:lnTo>
                  <a:pt x="0" y="8300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27357" y="3439693"/>
            <a:ext cx="5628742" cy="6250522"/>
          </a:xfrm>
          <a:custGeom>
            <a:avLst/>
            <a:gdLst/>
            <a:ahLst/>
            <a:cxnLst/>
            <a:rect r="r" b="b" t="t" l="l"/>
            <a:pathLst>
              <a:path h="6250522" w="5628742">
                <a:moveTo>
                  <a:pt x="0" y="0"/>
                </a:moveTo>
                <a:lnTo>
                  <a:pt x="5628742" y="0"/>
                </a:lnTo>
                <a:lnTo>
                  <a:pt x="5628742" y="6250522"/>
                </a:lnTo>
                <a:lnTo>
                  <a:pt x="0" y="6250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21847">
            <a:off x="13907632" y="-1452358"/>
            <a:ext cx="9849240" cy="8488254"/>
          </a:xfrm>
          <a:custGeom>
            <a:avLst/>
            <a:gdLst/>
            <a:ahLst/>
            <a:cxnLst/>
            <a:rect r="r" b="b" t="t" l="l"/>
            <a:pathLst>
              <a:path h="8488254" w="9849240">
                <a:moveTo>
                  <a:pt x="0" y="0"/>
                </a:moveTo>
                <a:lnTo>
                  <a:pt x="9849240" y="0"/>
                </a:lnTo>
                <a:lnTo>
                  <a:pt x="9849240" y="8488254"/>
                </a:lnTo>
                <a:lnTo>
                  <a:pt x="0" y="84882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018856" y="1515034"/>
            <a:ext cx="7129738" cy="7256931"/>
            <a:chOff x="0" y="0"/>
            <a:chExt cx="887636" cy="9034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87636" cy="903471"/>
            </a:xfrm>
            <a:custGeom>
              <a:avLst/>
              <a:gdLst/>
              <a:ahLst/>
              <a:cxnLst/>
              <a:rect r="r" b="b" t="t" l="l"/>
              <a:pathLst>
                <a:path h="903471" w="887636">
                  <a:moveTo>
                    <a:pt x="32576" y="0"/>
                  </a:moveTo>
                  <a:lnTo>
                    <a:pt x="855060" y="0"/>
                  </a:lnTo>
                  <a:cubicBezTo>
                    <a:pt x="873051" y="0"/>
                    <a:pt x="887636" y="14585"/>
                    <a:pt x="887636" y="32576"/>
                  </a:cubicBezTo>
                  <a:lnTo>
                    <a:pt x="887636" y="870895"/>
                  </a:lnTo>
                  <a:cubicBezTo>
                    <a:pt x="887636" y="888887"/>
                    <a:pt x="873051" y="903471"/>
                    <a:pt x="855060" y="903471"/>
                  </a:cubicBezTo>
                  <a:lnTo>
                    <a:pt x="32576" y="903471"/>
                  </a:lnTo>
                  <a:cubicBezTo>
                    <a:pt x="14585" y="903471"/>
                    <a:pt x="0" y="888887"/>
                    <a:pt x="0" y="870895"/>
                  </a:cubicBezTo>
                  <a:lnTo>
                    <a:pt x="0" y="32576"/>
                  </a:lnTo>
                  <a:cubicBezTo>
                    <a:pt x="0" y="14585"/>
                    <a:pt x="14585" y="0"/>
                    <a:pt x="32576" y="0"/>
                  </a:cubicBezTo>
                  <a:close/>
                </a:path>
              </a:pathLst>
            </a:custGeom>
            <a:blipFill>
              <a:blip r:embed="rId8"/>
              <a:stretch>
                <a:fillRect l="-891" t="0" r="-891" b="0"/>
              </a:stretch>
            </a:blipFill>
            <a:ln w="95250" cap="rnd">
              <a:gradFill>
                <a:gsLst>
                  <a:gs pos="0">
                    <a:srgbClr val="334BAE">
                      <a:alpha val="100000"/>
                    </a:srgbClr>
                  </a:gs>
                  <a:gs pos="100000">
                    <a:srgbClr val="A1B1F7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-2576807" y="-130943"/>
            <a:ext cx="4802587" cy="3291955"/>
          </a:xfrm>
          <a:custGeom>
            <a:avLst/>
            <a:gdLst/>
            <a:ahLst/>
            <a:cxnLst/>
            <a:rect r="r" b="b" t="t" l="l"/>
            <a:pathLst>
              <a:path h="3291955" w="4802587">
                <a:moveTo>
                  <a:pt x="0" y="0"/>
                </a:moveTo>
                <a:lnTo>
                  <a:pt x="4802586" y="0"/>
                </a:lnTo>
                <a:lnTo>
                  <a:pt x="4802586" y="3291955"/>
                </a:lnTo>
                <a:lnTo>
                  <a:pt x="0" y="32919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2700000">
            <a:off x="143347" y="510727"/>
            <a:ext cx="1085532" cy="1074163"/>
            <a:chOff x="0" y="0"/>
            <a:chExt cx="285901" cy="28290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5901" cy="282907"/>
            </a:xfrm>
            <a:custGeom>
              <a:avLst/>
              <a:gdLst/>
              <a:ahLst/>
              <a:cxnLst/>
              <a:rect r="r" b="b" t="t" l="l"/>
              <a:pathLst>
                <a:path h="282907" w="285901">
                  <a:moveTo>
                    <a:pt x="0" y="0"/>
                  </a:moveTo>
                  <a:lnTo>
                    <a:pt x="285901" y="0"/>
                  </a:lnTo>
                  <a:lnTo>
                    <a:pt x="285901" y="282907"/>
                  </a:lnTo>
                  <a:lnTo>
                    <a:pt x="0" y="282907"/>
                  </a:lnTo>
                  <a:close/>
                </a:path>
              </a:pathLst>
            </a:custGeom>
            <a:solidFill>
              <a:srgbClr val="334BA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285901" cy="349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225779" y="4727553"/>
            <a:ext cx="4168443" cy="717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7"/>
              </a:lnSpc>
              <a:spcBef>
                <a:spcPct val="0"/>
              </a:spcBef>
            </a:pPr>
            <a:r>
              <a:rPr lang="en-US" b="true" sz="3998" spc="-79">
                <a:solidFill>
                  <a:srgbClr val="334BAE"/>
                </a:solidFill>
                <a:latin typeface="Poppins Bold"/>
                <a:ea typeface="Poppins Bold"/>
                <a:cs typeface="Poppins Bold"/>
                <a:sym typeface="Poppins Bold"/>
              </a:rPr>
              <a:t>Questions?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95331" y="2041406"/>
            <a:ext cx="5786930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9599"/>
              </a:lnSpc>
              <a:spcBef>
                <a:spcPct val="0"/>
              </a:spcBef>
            </a:pPr>
            <a:r>
              <a:rPr lang="en-US" b="true" sz="7999" strike="noStrike" u="none">
                <a:solidFill>
                  <a:srgbClr val="334BAE"/>
                </a:solidFill>
                <a:latin typeface="Agrandir Bold"/>
                <a:ea typeface="Agrandir Bold"/>
                <a:cs typeface="Agrandir Bold"/>
                <a:sym typeface="Agrandir Bold"/>
              </a:rPr>
              <a:t>Thank You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DAG6H5lW6As</dc:identifier>
  <dcterms:modified xsi:type="dcterms:W3CDTF">2011-08-01T06:04:30Z</dcterms:modified>
  <cp:revision>1</cp:revision>
  <dc:title>Blue and White Modern Corporate Pitch Deck Presentation</dc:title>
</cp:coreProperties>
</file>